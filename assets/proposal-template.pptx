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115a28e2dc48ab" /><Relationship Type="http://schemas.openxmlformats.org/officeDocument/2006/relationships/extended-properties" Target="/docProps/app.xml" Id="Rdfccb4fffe53437f" /><Relationship Type="http://schemas.openxmlformats.org/officeDocument/2006/relationships/officeDocument" Target="/ppt/presentation.xml" Id="Ra865e5366c5b49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c819fc44854f3b"/>
    <p:sldMasterId xmlns:r="http://schemas.openxmlformats.org/officeDocument/2006/relationships" id="2147483650" r:id="Re8547c9ee7794d16"/>
  </p:sldMasterIdLst>
  <p:notesMasterIdLst>
    <p:notesMasterId xmlns:r="http://schemas.openxmlformats.org/officeDocument/2006/relationships" r:id="R0bd36cb8c31841a9"/>
  </p:notesMasterIdLst>
  <p:sldIdLst>
    <p:sldId xmlns:r="http://schemas.openxmlformats.org/officeDocument/2006/relationships" id="256" r:id="R106059b4409947cf"/>
    <p:sldId xmlns:r="http://schemas.openxmlformats.org/officeDocument/2006/relationships" id="257" r:id="Ra68797d93b584639"/>
    <p:sldId xmlns:r="http://schemas.openxmlformats.org/officeDocument/2006/relationships" id="258" r:id="Rfd8c4591caff4a5e"/>
    <p:sldId xmlns:r="http://schemas.openxmlformats.org/officeDocument/2006/relationships" id="259" r:id="R81f4563026b14263"/>
    <p:sldId xmlns:r="http://schemas.openxmlformats.org/officeDocument/2006/relationships" id="260" r:id="R09952a424ac34ac9"/>
    <p:sldId xmlns:r="http://schemas.openxmlformats.org/officeDocument/2006/relationships" id="261" r:id="R5cde7ef6f6e64816"/>
    <p:sldId xmlns:r="http://schemas.openxmlformats.org/officeDocument/2006/relationships" id="262" r:id="Rd278822f5b3f4e75"/>
    <p:sldId xmlns:r="http://schemas.openxmlformats.org/officeDocument/2006/relationships" id="263" r:id="Rff1582a08d414824"/>
    <p:sldId xmlns:r="http://schemas.openxmlformats.org/officeDocument/2006/relationships" id="264" r:id="R816629ffcfcb407c"/>
    <p:sldId xmlns:r="http://schemas.openxmlformats.org/officeDocument/2006/relationships" id="265" r:id="R6d5073c431a0477c"/>
    <p:sldId xmlns:r="http://schemas.openxmlformats.org/officeDocument/2006/relationships" id="266" r:id="R200e5c10d8e44307"/>
    <p:sldId xmlns:r="http://schemas.openxmlformats.org/officeDocument/2006/relationships" id="267" r:id="Rcc52e3dc94314ebb"/>
    <p:sldId xmlns:r="http://schemas.openxmlformats.org/officeDocument/2006/relationships" id="268" r:id="R3b19c6e2211b4016"/>
    <p:sldId xmlns:r="http://schemas.openxmlformats.org/officeDocument/2006/relationships" id="269" r:id="Rd7cd6438541d40cd"/>
    <p:sldId xmlns:r="http://schemas.openxmlformats.org/officeDocument/2006/relationships" id="270" r:id="R8971a5d4b7694318"/>
    <p:sldId xmlns:r="http://schemas.openxmlformats.org/officeDocument/2006/relationships" id="271" r:id="Rf3d4f5286d5a4501"/>
    <p:sldId xmlns:r="http://schemas.openxmlformats.org/officeDocument/2006/relationships" id="272" r:id="R64639132e64e4e21"/>
    <p:sldId xmlns:r="http://schemas.openxmlformats.org/officeDocument/2006/relationships" id="273" r:id="R4227336c9b56454f"/>
    <p:sldId xmlns:r="http://schemas.openxmlformats.org/officeDocument/2006/relationships" id="274" r:id="Rd901214393db4e2c"/>
    <p:sldId xmlns:r="http://schemas.openxmlformats.org/officeDocument/2006/relationships" id="275" r:id="R23178c3677c64225"/>
    <p:sldId xmlns:r="http://schemas.openxmlformats.org/officeDocument/2006/relationships" id="276" r:id="Rce5ccebbd5e94b94"/>
    <p:sldId xmlns:r="http://schemas.openxmlformats.org/officeDocument/2006/relationships" id="277" r:id="Rd3d2537a3c804aaa"/>
    <p:sldId xmlns:r="http://schemas.openxmlformats.org/officeDocument/2006/relationships" id="278" r:id="R7811bed7fda241d4"/>
    <p:sldId xmlns:r="http://schemas.openxmlformats.org/officeDocument/2006/relationships" id="279" r:id="Rfcb92e678235420a"/>
    <p:sldId xmlns:r="http://schemas.openxmlformats.org/officeDocument/2006/relationships" id="280" r:id="Re5777b6a7dce4154"/>
    <p:sldId xmlns:r="http://schemas.openxmlformats.org/officeDocument/2006/relationships" id="281" r:id="Rf30cc5faa8ce48a4"/>
    <p:sldId xmlns:r="http://schemas.openxmlformats.org/officeDocument/2006/relationships" id="282" r:id="R8c9fe337043b4cc9"/>
    <p:sldId xmlns:r="http://schemas.openxmlformats.org/officeDocument/2006/relationships" id="283" r:id="R6b047b0efaef4e46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8c53d3fc844a20" /><Relationship Type="http://schemas.openxmlformats.org/officeDocument/2006/relationships/slideMaster" Target="/ppt/slideMasters/slideMaster1.xml" Id="R16c819fc44854f3b" /><Relationship Type="http://schemas.openxmlformats.org/officeDocument/2006/relationships/slideMaster" Target="/ppt/slideMasters/slideMaster2.xml" Id="Re8547c9ee7794d16" /><Relationship Type="http://schemas.openxmlformats.org/officeDocument/2006/relationships/notesMaster" Target="/ppt/notesMasters/notesMaster1.xml" Id="R0bd36cb8c31841a9" /><Relationship Type="http://schemas.openxmlformats.org/officeDocument/2006/relationships/presProps" Target="/ppt/presProps.xml" Id="R601622ff4f0444fc" /><Relationship Type="http://schemas.openxmlformats.org/officeDocument/2006/relationships/tableStyles" Target="/ppt/tableStyles.xml" Id="R07a788edc5fc4fac" /><Relationship Type="http://schemas.openxmlformats.org/officeDocument/2006/relationships/slide" Target="/ppt/slides/slide1.xml" Id="R106059b4409947cf" /><Relationship Type="http://schemas.openxmlformats.org/officeDocument/2006/relationships/slide" Target="/ppt/slides/slide2.xml" Id="Ra68797d93b584639" /><Relationship Type="http://schemas.openxmlformats.org/officeDocument/2006/relationships/slide" Target="/ppt/slides/slide3.xml" Id="Rfd8c4591caff4a5e" /><Relationship Type="http://schemas.openxmlformats.org/officeDocument/2006/relationships/slide" Target="/ppt/slides/slide4.xml" Id="R81f4563026b14263" /><Relationship Type="http://schemas.openxmlformats.org/officeDocument/2006/relationships/slide" Target="/ppt/slides/slide5.xml" Id="R09952a424ac34ac9" /><Relationship Type="http://schemas.openxmlformats.org/officeDocument/2006/relationships/slide" Target="/ppt/slides/slide6.xml" Id="R5cde7ef6f6e64816" /><Relationship Type="http://schemas.openxmlformats.org/officeDocument/2006/relationships/slide" Target="/ppt/slides/slide7.xml" Id="Rd278822f5b3f4e75" /><Relationship Type="http://schemas.openxmlformats.org/officeDocument/2006/relationships/slide" Target="/ppt/slides/slide8.xml" Id="Rff1582a08d414824" /><Relationship Type="http://schemas.openxmlformats.org/officeDocument/2006/relationships/slide" Target="/ppt/slides/slide9.xml" Id="R816629ffcfcb407c" /><Relationship Type="http://schemas.openxmlformats.org/officeDocument/2006/relationships/slide" Target="/ppt/slides/slide10.xml" Id="R6d5073c431a0477c" /><Relationship Type="http://schemas.openxmlformats.org/officeDocument/2006/relationships/slide" Target="/ppt/slides/slide11.xml" Id="R200e5c10d8e44307" /><Relationship Type="http://schemas.openxmlformats.org/officeDocument/2006/relationships/slide" Target="/ppt/slides/slide12.xml" Id="Rcc52e3dc94314ebb" /><Relationship Type="http://schemas.openxmlformats.org/officeDocument/2006/relationships/slide" Target="/ppt/slides/slide13.xml" Id="R3b19c6e2211b4016" /><Relationship Type="http://schemas.openxmlformats.org/officeDocument/2006/relationships/slide" Target="/ppt/slides/slide14.xml" Id="Rd7cd6438541d40cd" /><Relationship Type="http://schemas.openxmlformats.org/officeDocument/2006/relationships/slide" Target="/ppt/slides/slide15.xml" Id="R8971a5d4b7694318" /><Relationship Type="http://schemas.openxmlformats.org/officeDocument/2006/relationships/slide" Target="/ppt/slides/slide16.xml" Id="Rf3d4f5286d5a4501" /><Relationship Type="http://schemas.openxmlformats.org/officeDocument/2006/relationships/slide" Target="/ppt/slides/slide17.xml" Id="R64639132e64e4e21" /><Relationship Type="http://schemas.openxmlformats.org/officeDocument/2006/relationships/slide" Target="/ppt/slides/slide18.xml" Id="R4227336c9b56454f" /><Relationship Type="http://schemas.openxmlformats.org/officeDocument/2006/relationships/slide" Target="/ppt/slides/slide19.xml" Id="Rd901214393db4e2c" /><Relationship Type="http://schemas.openxmlformats.org/officeDocument/2006/relationships/slide" Target="/ppt/slides/slide20.xml" Id="R23178c3677c64225" /><Relationship Type="http://schemas.openxmlformats.org/officeDocument/2006/relationships/slide" Target="/ppt/slides/slide21.xml" Id="Rce5ccebbd5e94b94" /><Relationship Type="http://schemas.openxmlformats.org/officeDocument/2006/relationships/slide" Target="/ppt/slides/slide22.xml" Id="Rd3d2537a3c804aaa" /><Relationship Type="http://schemas.openxmlformats.org/officeDocument/2006/relationships/slide" Target="/ppt/slides/slide23.xml" Id="R7811bed7fda241d4" /><Relationship Type="http://schemas.openxmlformats.org/officeDocument/2006/relationships/slide" Target="/ppt/slides/slide24.xml" Id="Rfcb92e678235420a" /><Relationship Type="http://schemas.openxmlformats.org/officeDocument/2006/relationships/slide" Target="/ppt/slides/slide25.xml" Id="Re5777b6a7dce4154" /><Relationship Type="http://schemas.openxmlformats.org/officeDocument/2006/relationships/slide" Target="/ppt/slides/slide26.xml" Id="Rf30cc5faa8ce48a4" /><Relationship Type="http://schemas.openxmlformats.org/officeDocument/2006/relationships/slide" Target="/ppt/slides/slide27.xml" Id="R8c9fe337043b4cc9" /><Relationship Type="http://schemas.openxmlformats.org/officeDocument/2006/relationships/slide" Target="/ppt/slides/slide28.xml" Id="R6b047b0efaef4e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4707b2c1c2b43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987d942b644a64" /><Relationship Type="http://schemas.openxmlformats.org/officeDocument/2006/relationships/notesMaster" Target="/ppt/notesMasters/notesMaster1.xml" Id="Rb5cb2790bb0e4d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603367603940f5" /><Relationship Type="http://schemas.openxmlformats.org/officeDocument/2006/relationships/notesMaster" Target="/ppt/notesMasters/notesMaster1.xml" Id="R160fe52716c044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e3e62460cf4ea7" /><Relationship Type="http://schemas.openxmlformats.org/officeDocument/2006/relationships/notesMaster" Target="/ppt/notesMasters/notesMaster1.xml" Id="Rf1d684af04e045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2943e835c94d48" /><Relationship Type="http://schemas.openxmlformats.org/officeDocument/2006/relationships/notesMaster" Target="/ppt/notesMasters/notesMaster1.xml" Id="R34cc90f96c5f4e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711088ac644795" /><Relationship Type="http://schemas.openxmlformats.org/officeDocument/2006/relationships/notesMaster" Target="/ppt/notesMasters/notesMaster1.xml" Id="R2c2a3fe3058441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f25d197dbc4939" /><Relationship Type="http://schemas.openxmlformats.org/officeDocument/2006/relationships/notesMaster" Target="/ppt/notesMasters/notesMaster1.xml" Id="R159d0b43d38b49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5761dd8f23462e" /><Relationship Type="http://schemas.openxmlformats.org/officeDocument/2006/relationships/notesMaster" Target="/ppt/notesMasters/notesMaster1.xml" Id="R8c1cb3ad512945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0959ada40d4951" /><Relationship Type="http://schemas.openxmlformats.org/officeDocument/2006/relationships/notesMaster" Target="/ppt/notesMasters/notesMaster1.xml" Id="R15505f5ed99c4b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fd69e8ae1f40ff" /><Relationship Type="http://schemas.openxmlformats.org/officeDocument/2006/relationships/notesMaster" Target="/ppt/notesMasters/notesMaster1.xml" Id="R48b3a811b47647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1cb9d8120b4d1c" /><Relationship Type="http://schemas.openxmlformats.org/officeDocument/2006/relationships/notesMaster" Target="/ppt/notesMasters/notesMaster1.xml" Id="Rd220dec7e08142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c926329c854f43" /><Relationship Type="http://schemas.openxmlformats.org/officeDocument/2006/relationships/notesMaster" Target="/ppt/notesMasters/notesMaster1.xml" Id="Rdca17b00bdcb47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27127cd49e4b6e" /><Relationship Type="http://schemas.openxmlformats.org/officeDocument/2006/relationships/notesMaster" Target="/ppt/notesMasters/notesMaster1.xml" Id="Rcb107008822745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5928facb0de4c4c" /><Relationship Type="http://schemas.openxmlformats.org/officeDocument/2006/relationships/notesMaster" Target="/ppt/notesMasters/notesMaster1.xml" Id="Rf53bc2d7820e47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876990a6894e3d" /><Relationship Type="http://schemas.openxmlformats.org/officeDocument/2006/relationships/notesMaster" Target="/ppt/notesMasters/notesMaster1.xml" Id="R061b88bac22542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5cc0bb963a04526" /><Relationship Type="http://schemas.openxmlformats.org/officeDocument/2006/relationships/notesMaster" Target="/ppt/notesMasters/notesMaster1.xml" Id="R855ec7cff9cb4b6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8f183f6691f40f3" /><Relationship Type="http://schemas.openxmlformats.org/officeDocument/2006/relationships/notesMaster" Target="/ppt/notesMasters/notesMaster1.xml" Id="Rd744c4d18c9647c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b3047f5b6c74323" /><Relationship Type="http://schemas.openxmlformats.org/officeDocument/2006/relationships/notesMaster" Target="/ppt/notesMasters/notesMaster1.xml" Id="Rb69f150c1229470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a271a4ff0c44513" /><Relationship Type="http://schemas.openxmlformats.org/officeDocument/2006/relationships/notesMaster" Target="/ppt/notesMasters/notesMaster1.xml" Id="R240d9eae703d479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397bba91bf34135" /><Relationship Type="http://schemas.openxmlformats.org/officeDocument/2006/relationships/notesMaster" Target="/ppt/notesMasters/notesMaster1.xml" Id="R7a4d696fd5cd4fd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57d311c219d4563" /><Relationship Type="http://schemas.openxmlformats.org/officeDocument/2006/relationships/notesMaster" Target="/ppt/notesMasters/notesMaster1.xml" Id="Raa500062f2cb4d3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5475fc2e6dd47d8" /><Relationship Type="http://schemas.openxmlformats.org/officeDocument/2006/relationships/notesMaster" Target="/ppt/notesMasters/notesMaster1.xml" Id="R22b98bfec8ec475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ead332091ba4551" /><Relationship Type="http://schemas.openxmlformats.org/officeDocument/2006/relationships/notesMaster" Target="/ppt/notesMasters/notesMaster1.xml" Id="Rd9a7c814c896447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7519289efe44e85" /><Relationship Type="http://schemas.openxmlformats.org/officeDocument/2006/relationships/notesMaster" Target="/ppt/notesMasters/notesMaster1.xml" Id="R509b9a90bab44db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b7a9fd402ad42ad" /><Relationship Type="http://schemas.openxmlformats.org/officeDocument/2006/relationships/notesMaster" Target="/ppt/notesMasters/notesMaster1.xml" Id="Rd6c7b9c0fca542c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ea4fb558acc4d1c" /><Relationship Type="http://schemas.openxmlformats.org/officeDocument/2006/relationships/notesMaster" Target="/ppt/notesMasters/notesMaster1.xml" Id="R85784c854db2467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287bd70e26f49bb" /><Relationship Type="http://schemas.openxmlformats.org/officeDocument/2006/relationships/notesMaster" Target="/ppt/notesMasters/notesMaster1.xml" Id="Rf4f29df85a45411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f3910824b0b4b2f" /><Relationship Type="http://schemas.openxmlformats.org/officeDocument/2006/relationships/notesMaster" Target="/ppt/notesMasters/notesMaster1.xml" Id="Reac5937b15a84c0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d7801594aa84a3c" /><Relationship Type="http://schemas.openxmlformats.org/officeDocument/2006/relationships/notesMaster" Target="/ppt/notesMasters/notesMaster1.xml" Id="R4a5f06468f4347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模板使用说明（不朗读）</a:t>
            </a:r>
          </a:p>
          <a:p xmlns:a="http://schemas.openxmlformats.org/drawingml/2006/main">
            <a:r>
              <a:t>通用开题答辩模板，共28页，正文版式按七个章节排列。封面第1页、目录第3页、结束页第28页；第2、27页为说明页，正式稿删除。按材料选择同章版式，删除未选页面并重算页码。保留4∶3、白底、蓝色标题栏、黑体正文、红色强调、浅粉色小标题、蓝色总结框和虚线分隔。所有占位内容须按当前课题替换。研究现状一类一页，页面标明真实论文作者、刊会和年份；背景按3、6、1个图位保留，缺图框内留空；方案保留三条编号任务；所有公式使用PowerPoint自带的原生可编辑公式，不能用普通文本拼接。实际PPT的备注先写可直接照读的学术演讲稿，再写内容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本页要求：封面只保留报告类型、课题题目、姓名、学号、导师及日期。校徽保持比例；不同院校时仅用授权校徽替换。正式稿删除蓝色“含填写说明”提示。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模板使用说明（不朗读）</a:t>
            </a:r>
          </a:p>
          <a:p xmlns:a="http://schemas.openxmlformats.org/drawingml/2006/main">
            <a:r>
              <a:t>通用开题答辩模板，共28页，正文版式按七个章节排列。封面第1页、目录第3页、结束页第28页；第2、27页为说明页，正式稿删除。按材料选择同章版式，删除未选页面并重算页码。保留4∶3、白底、蓝色标题栏、黑体正文、红色强调、浅粉色小标题、蓝色总结框和虚线分隔。所有占位内容须按当前课题替换。研究现状一类一页，页面标明真实论文作者、刊会和年份；背景按3、6、1个图位保留，缺图框内留空；方案保留三条编号任务；所有公式使用PowerPoint自带的原生可编辑公式，不能用普通文本拼接。实际PPT的备注先写可直接照读的学术演讲稿，再写内容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本页为使用说明。模板28页包含多种替代版式，正式稿只保留所需页面，删除第2、27页。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模板使用说明（不朗读）</a:t>
            </a:r>
          </a:p>
          <a:p xmlns:a="http://schemas.openxmlformats.org/drawingml/2006/main">
            <a:r>
              <a:t>通用开题答辩模板，共28页，正文版式按七个章节排列。封面第1页、目录第3页、结束页第28页；第2、27页为说明页，正式稿删除。按材料选择同章版式，删除未选页面并重算页码。保留4∶3、白底、蓝色标题栏、黑体正文、红色强调、浅粉色小标题、蓝色总结框和虚线分隔。所有占位内容须按当前课题替换。研究现状一类一页，页面标明真实论文作者、刊会和年份；背景按3、6、1个图位保留，缺图框内留空；方案保留三条编号任务；所有公式使用PowerPoint自带的原生可编辑公式，不能用普通文本拼接。实际PPT的备注先写可直接照读的学术演讲稿，再写内容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本页要求：目录保留七章结构，使用中文序号，与全部正文页章节标题保持一致。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模板使用说明（不朗读）</a:t>
            </a:r>
          </a:p>
          <a:p xmlns:a="http://schemas.openxmlformats.org/drawingml/2006/main">
            <a:r>
              <a:t>通用开题答辩模板，共28页，正文版式按七个章节排列。封面第1页、目录第3页、结束页第28页；第2、27页为说明页，正式稿删除。按材料选择同章版式，删除未选页面并重算页码。保留4∶3、白底、蓝色标题栏、黑体正文、红色强调、浅粉色小标题、蓝色总结框和虚线分隔。所有占位内容须按当前课题替换。研究现状一类一页，页面标明真实论文作者、刊会和年份；背景按3、6、1个图位保留，缺图框内留空；方案保留三条编号任务；所有公式使用PowerPoint自带的原生可编辑公式，不能用普通文本拼接。实际PPT的备注先写可直接照读的学术演讲稿，再写内容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本页要求：任务背景页。用真实任务图片说明应用场景和需求，可按时间顺序或任务关系排列。配图下写简短说明。底部结论回答为什么研究此课题。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应用场景】要求机器人完成【任务】，这对【能力】提出了明确要求。左侧展示了相应的任务场景。结合中间的【平台或结果】，可以看到现有系统已经具备【能力】。但在右侧所示的【条件】下，仍存在【问题】。因此，需要进一步研究【具体问题】，以满足【任务约束】。</a:t>
            </a:r>
          </a:p>
          <a:p xmlns:a="http://schemas.openxmlformats.org/drawingml/2006/main">
            <a:r>
              <a:t>内容来源（不朗读）</a:t>
            </a:r>
          </a:p>
          <a:p xmlns:a="http://schemas.openxmlformats.org/drawingml/2006/main">
            <a:r>
              <a:t>这是可填写的模板演讲稿，不是任何课题的已核实事实。实际制作须替换为报告章节、完整论文信息及图号。</a:t>
            </a:r>
          </a:p>
          <a:p xmlns:a="http://schemas.openxmlformats.org/drawingml/2006/main">
            <a:r>
              <a:t>模板选用说明（不朗读）</a:t>
            </a:r>
          </a:p>
          <a:p xmlns:a="http://schemas.openxmlformats.org/drawingml/2006/main">
            <a:r>
              <a:t>L01，可替换当前第4页，3个有效图位，缺图框内留空。也可用于A/B能力对比后说明互补需求，但必须保留3图位。 保留原封面、目录与章节结构。本页仅为备选，不自动计入正式稿；选用后替换占位，删除未选备选页，统一重算页码。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模板使用说明（不朗读）</a:t>
            </a:r>
          </a:p>
          <a:p xmlns:a="http://schemas.openxmlformats.org/drawingml/2006/main">
            <a:r>
              <a:t>通用开题答辩模板，共28页，正文版式按七个章节排列。封面第1页、目录第3页、结束页第28页；第2、27页为说明页，正式稿删除。按材料选择同章版式，删除未选页面并重算页码。保留4∶3、白底、蓝色标题栏、黑体正文、红色强调、浅粉色小标题、蓝色总结框和虚线分隔。所有占位内容须按当前课题替换。研究现状一类一页，页面标明真实论文作者、刊会和年份；背景按3、6、1个图位保留，缺图框内留空；方案保留三条编号任务；所有公式使用PowerPoint自带的原生可编辑公式，不能用普通文本拼接。实际PPT的备注先写可直接照读的学术演讲稿，再写内容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本页要求：现实问题页。上排展示环境或工况，下排展示已有系统局限。总结框连接环境困难与研究问题。不使用无来源的事故或性能数据。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上述任务条件下，还需要考虑【研究对象】与【环境】的相互作用。上排三幅图分别对应【条件一】、【条件二】和【条件三】，它们带来的影响并不相同。下排对应说明了【问题一】、【问题二】和【问题三】。其中，【核心问题】直接限制了【任务性能】，因而构成本研究需要重点解决的技术难点。</a:t>
            </a:r>
          </a:p>
          <a:p xmlns:a="http://schemas.openxmlformats.org/drawingml/2006/main">
            <a:r>
              <a:t>内容来源（不朗读）</a:t>
            </a:r>
          </a:p>
          <a:p xmlns:a="http://schemas.openxmlformats.org/drawingml/2006/main">
            <a:r>
              <a:t>这是可填写的模板演讲稿，不是任何课题的已核实事实。实际制作须替换为报告章节、完整论文信息及图号。</a:t>
            </a:r>
          </a:p>
          <a:p xmlns:a="http://schemas.openxmlformats.org/drawingml/2006/main">
            <a:r>
              <a:t>模板选用说明（不朗读）</a:t>
            </a:r>
          </a:p>
          <a:p xmlns:a="http://schemas.openxmlformats.org/drawingml/2006/main">
            <a:r>
              <a:t>L02，可替换当前第6页，上3下3共6图位；图框内部为空，缺图时只在框外图注标待补。本页不能替代当前第8页的1图位和第9页的意义文字页。 保留原封面、目录与章节结构。本页仅为备选，不自动计入正式稿；选用后替换占位，删除未选备选页，统一重算页码。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模板使用说明（不朗读）</a:t>
            </a:r>
          </a:p>
          <a:p xmlns:a="http://schemas.openxmlformats.org/drawingml/2006/main">
            <a:r>
              <a:t>通用开题答辩模板，共28页，正文版式按七个章节排列。封面第1页、目录第3页、结束页第28页；第2、27页为说明页，正式稿删除。按材料选择同章版式，删除未选页面并重算页码。保留4∶3、白底、蓝色标题栏、黑体正文、红色强调、浅粉色小标题、蓝色总结框和虚线分隔。所有占位内容须按当前课题替换。研究现状一类一页，页面标明真实论文作者、刊会和年份；背景按3、6、1个图位保留，缺图框内留空；方案保留三条编号任务；所有公式使用PowerPoint自带的原生可编辑公式，不能用普通文本拼接。实际PPT的备注先写可直接照读的学术演讲稿，再写内容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本页要求：研究切入点页。展示系统或感知控制环节，说明研究的模型或方法在哪个位置发挥作用。图示为原生可编辑框图。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模板使用说明（不朗读）</a:t>
            </a:r>
          </a:p>
          <a:p xmlns:a="http://schemas.openxmlformats.org/drawingml/2006/main">
            <a:r>
              <a:t>通用开题答辩模板，共28页，正文版式按七个章节排列。封面第1页、目录第3页、结束页第28页；第2、27页为说明页，正式稿删除。按材料选择同章版式，删除未选页面并重算页码。保留4∶3、白底、蓝色标题栏、黑体正文、红色强调、浅粉色小标题、蓝色总结框和虚线分隔。所有占位内容须按当前课题替换。研究现状一类一页，页面标明真实论文作者、刊会和年份；背景按3、6、1个图位保留，缺图框内留空；方案保留三条编号任务；所有公式使用PowerPoint自带的原生可编辑公式，不能用普通文本拼接。实际PPT的备注先写可直接照读的学术演讲稿，再写内容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本页要求：研究意义页。条目分别说明方法研究价值与工程应用价值，每一点具有具体对象，不写无依据的宏大表述。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模板使用说明（不朗读）</a:t>
            </a:r>
          </a:p>
          <a:p xmlns:a="http://schemas.openxmlformats.org/drawingml/2006/main">
            <a:r>
              <a:t>通用开题答辩模板，共28页，正文版式按七个章节排列。封面第1页、目录第3页、结束页第28页；第2、27页为说明页，正式稿删除。按材料选择同章版式，删除未选页面并重算页码。保留4∶3、白底、蓝色标题栏、黑体正文、红色强调、浅粉色小标题、蓝色总结框和虚线分隔。所有占位内容须按当前课题替换。研究现状一类一页，页面标明真实论文作者、刊会和年份；背景按3、6、1个图位保留，缺图框内留空；方案保留三条编号任务；所有公式使用PowerPoint自带的原生可编辑公式，不能用普通文本拼接。实际PPT的备注先写可直接照读的学术演讲稿，再写内容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本页要求：现状三组版式。按同一技术方向选择代表工作；每组保留研究图、研究单位、年份、方法及结论。不能只堆图或只写论文题目。根据材料复制本页，修改方向名称。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模板使用说明（不朗读）</a:t>
            </a:r>
          </a:p>
          <a:p xmlns:a="http://schemas.openxmlformats.org/drawingml/2006/main">
            <a:r>
              <a:t>通用开题答辩模板，共28页，正文版式按七个章节排列。封面第1页、目录第3页、结束页第28页；第2、27页为说明页，正式稿删除。按材料选择同章版式，删除未选页面并重算页码。保留4∶3、白底、蓝色标题栏、黑体正文、红色强调、浅粉色小标题、蓝色总结框和虚线分隔。所有占位内容须按当前课题替换。研究现状一类一页，页面标明真实论文作者、刊会和年份；背景按3、6、1个图位保留，缺图框内留空；方案保留三条编号任务；所有公式使用PowerPoint自带的原生可编辑公式，不能用普通文本拼接。实际PPT的备注先写可直接照读的学术演讲稿，再写内容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本页要求：现状四组版式。用四组论文图比较同类方法，每组包含单位与年份、方法或结论。资料不足时改为两组并扩大图片，不凑数量。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围绕【共同研究问题】，现有研究主要从【比较维度】展开。左侧的【工作一】采用【方法】，解决了【问题】。中间的【工作二】主要改变了【机制或条件】，得到【结果】。右侧的【工作三】则侧重【方面】。比较这些工作可以看出，【有依据的共同认识】；不过，在【特定条件】下仍需进一步解决【局限】。</a:t>
            </a:r>
          </a:p>
          <a:p xmlns:a="http://schemas.openxmlformats.org/drawingml/2006/main">
            <a:r>
              <a:t>内容来源（不朗读）</a:t>
            </a:r>
          </a:p>
          <a:p xmlns:a="http://schemas.openxmlformats.org/drawingml/2006/main">
            <a:r>
              <a:t>这是可填写的模板演讲稿，不是任何课题的已核实事实。实际制作须替换为报告章节、完整论文信息及图号。</a:t>
            </a:r>
          </a:p>
          <a:p xmlns:a="http://schemas.openxmlformats.org/drawingml/2006/main">
            <a:r>
              <a:t>模板选用说明（不朗读）</a:t>
            </a:r>
          </a:p>
          <a:p xmlns:a="http://schemas.openxmlformats.org/drawingml/2006/main">
            <a:r>
              <a:t>L03，同一大类集中一页。3工作是备选容量，不是必须删至3篇；按实际材料调整同页图文。也可将三个小板块改为同类研究的阶段或功能分支。每项必须显式标出文章出处，重点刊会可强调。 保留原封面、目录与章节结构。本页仅为备选，不自动计入正式稿；选用后替换占位，删除未选备选页，统一重算页码。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模板使用说明（不朗读）</a:t>
            </a:r>
          </a:p>
          <a:p xmlns:a="http://schemas.openxmlformats.org/drawingml/2006/main">
            <a:r>
              <a:t>通用开题答辩模板，共28页，正文版式按七个章节排列。封面第1页、目录第3页、结束页第28页；第2、27页为说明页，正式稿删除。按材料选择同章版式，删除未选页面并重算页码。保留4∶3、白底、蓝色标题栏、黑体正文、红色强调、浅粉色小标题、蓝色总结框和虚线分隔。所有占位内容须按当前课题替换。研究现状一类一页，页面标明真实论文作者、刊会和年份；背景按3、6、1个图位保留，缺图框内留空；方案保留三条编号任务；所有公式使用PowerPoint自带的原生可编辑公式，不能用普通文本拼接。实际PPT的备注先写可直接照读的学术演讲稿，再写内容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求：方法对比页。对同类代表方法采用统一比较维度，列出输入、输出及适用范围或局限。各方法在页面标明作者/单位、刊会、年份和明确工作名称，完整来源放备注。缺少证据时写待核实，不编造优劣。表格可编辑，也可复制前页改为科研图片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模板使用说明（不朗读）</a:t>
            </a:r>
          </a:p>
          <a:p xmlns:a="http://schemas.openxmlformats.org/drawingml/2006/main">
            <a:r>
              <a:t>通用开题答辩模板，共28页，正文版式按七个章节排列。封面第1页、目录第3页、结束页第28页；第2、27页为说明页，正式稿删除。按材料选择同章版式，删除未选页面并重算页码。保留4∶3、白底、蓝色标题栏、黑体正文、红色强调、浅粉色小标题、蓝色总结框和虚线分隔。所有占位内容须按当前课题替换。研究现状一类一页，页面标明真实论文作者、刊会和年份；背景按3、6、1个图位保留，缺图框内留空；方案保留三条编号任务；所有公式使用PowerPoint自带的原生可编辑公式，不能用普通文本拼接。实际PPT的备注先写可直接照读的学术演讲稿，再写内容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本页要求：现状分析页。归纳有文献依据的不足。每条不足均应与后续一项研究内容对应。不将“国内外尚未研究”等绝对断言作为无依据结论。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综合前面的研究，可以从【维度一】、【维度二】和【维度三】进一步归纳。首先，已有研究已经能够【进展】，但对【边界条件】的处理仍不充分。其次，【第二项进展与不足】。最后，【第三项进展与不足】。这些问题共同表明，需要围绕【核心问题】开展研究，下面据此说明研究目标与内容。</a:t>
            </a:r>
          </a:p>
          <a:p xmlns:a="http://schemas.openxmlformats.org/drawingml/2006/main">
            <a:r>
              <a:t>内容来源（不朗读）</a:t>
            </a:r>
          </a:p>
          <a:p xmlns:a="http://schemas.openxmlformats.org/drawingml/2006/main">
            <a:r>
              <a:t>这是可填写的模板演讲稿，不是任何课题的已核实事实。实际制作须替换为报告章节、完整论文信息及图号。</a:t>
            </a:r>
          </a:p>
          <a:p xmlns:a="http://schemas.openxmlformats.org/drawingml/2006/main">
            <a:r>
              <a:t>模板选用说明（不朗读）</a:t>
            </a:r>
          </a:p>
          <a:p xmlns:a="http://schemas.openxmlformats.org/drawingml/2006/main">
            <a:r>
              <a:t>L04，综合分析页使用原生可编辑表格。只保留材料支持的分析维度，不为填满表格虚构空缺，不能直接沿用旧文献中“尚未开展”等绝对判断。 保留原封面、目录与章节结构。本页仅为备选，不自动计入正式稿；选用后替换占位，删除未选备选页，统一重算页码。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模板使用说明（不朗读）</a:t>
            </a:r>
          </a:p>
          <a:p xmlns:a="http://schemas.openxmlformats.org/drawingml/2006/main">
            <a:r>
              <a:t>通用开题答辩模板，共28页，正文版式按七个章节排列。封面第1页、目录第3页、结束页第28页；第2、27页为说明页，正式稿删除。按材料选择同章版式，删除未选页面并重算页码。保留4∶3、白底、蓝色标题栏、黑体正文、红色强调、浅粉色小标题、蓝色总结框和虚线分隔。所有占位内容须按当前课题替换。研究现状一类一页，页面标明真实论文作者、刊会和年份；背景按3、6、1个图位保留，缺图框内留空；方案保留三条编号任务；所有公式使用PowerPoint自带的原生可编辑公式，不能用普通文本拼接。实际PPT的备注先写可直接照读的学术演讲稿，再写内容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本页要求：总览页。上部一句话说明总目标，下部三项任务构成总体关系图。任务名称与后面4.1、4.2、4.3一致，可依实际依赖关系调整箭头。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针对前述问题，本研究的总体目标是在【条件】下实现【目标能力】。具体包含【实际数量】项内容。【内容一】首先提供【产出】，作为【内容二】的输入或依据；【内容二】完成【任务】，形成【产出】；【内容三】在【工况】下验证【方法或系统】。这些内容之间的关系是【真实依赖或反馈关系】，最终共同支撑上述研究目标。</a:t>
            </a:r>
          </a:p>
          <a:p xmlns:a="http://schemas.openxmlformats.org/drawingml/2006/main">
            <a:r>
              <a:t>内容来源（不朗读）</a:t>
            </a:r>
          </a:p>
          <a:p xmlns:a="http://schemas.openxmlformats.org/drawingml/2006/main">
            <a:r>
              <a:t>这是可填写的模板演讲稿，不是任何课题的已核实事实。实际制作须替换为报告章节、完整论文信息及图号。</a:t>
            </a:r>
          </a:p>
          <a:p xmlns:a="http://schemas.openxmlformats.org/drawingml/2006/main">
            <a:r>
              <a:t>模板选用说明（不朗读）</a:t>
            </a:r>
          </a:p>
          <a:p xmlns:a="http://schemas.openxmlformats.org/drawingml/2006/main">
            <a:r>
              <a:t>L05，用可编辑表格表达任务接口，不新增流程图。研究内容数量由报告决定；任务名称与后续方案一致。有总体路线原图时可改用当前第16页。 保留原封面、目录与章节结构。本页仅为备选，不自动计入正式稿；选用后替换占位，删除未选备选页，统一重算页码。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模板使用说明（不朗读）</a:t>
            </a:r>
          </a:p>
          <a:p xmlns:a="http://schemas.openxmlformats.org/drawingml/2006/main">
            <a:r>
              <a:t>通用开题答辩模板，共28页，正文版式按七个章节排列。封面第1页、目录第3页、结束页第28页；第2、27页为说明页，正式稿删除。按材料选择同章版式，删除未选页面并重算页码。保留4∶3、白底、蓝色标题栏、黑体正文、红色强调、浅粉色小标题、蓝色总结框和虚线分隔。所有占位内容须按当前课题替换。研究现状一类一页，页面标明真实论文作者、刊会和年份；背景按3、6、1个图位保留，缺图框内留空；方案保留三条编号任务；所有公式使用PowerPoint自带的原生可编辑公式，不能用普通文本拼接。实际PPT的备注先写可直接照读的学术演讲稿，再写内容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求：研究方案4.1。顶部写与研究内容1一致的任务名称。三个子任务说明研究步骤；下部技术路线图交代输入、核心方法、输出、验证。使用必要公式时解释符号、假设和作用，具体模型以材料为准。图内文字和连线均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模板使用说明（不朗读）</a:t>
            </a:r>
          </a:p>
          <a:p xmlns:a="http://schemas.openxmlformats.org/drawingml/2006/main">
            <a:r>
              <a:t>通用开题答辩模板，共28页，正文版式按七个章节排列。封面第1页、目录第3页、结束页第28页；第2、27页为说明页，正式稿删除。按材料选择同章版式，删除未选页面并重算页码。保留4∶3、白底、蓝色标题栏、黑体正文、红色强调、浅粉色小标题、蓝色总结框和虚线分隔。所有占位内容须按当前课题替换。研究现状一类一页，页面标明真实论文作者、刊会和年份；背景按3、6、1个图位保留，缺图框内留空；方案保留三条编号任务；所有公式使用PowerPoint自带的原生可编辑公式，不能用普通文本拼接。实际PPT的备注先写可直接照读的学术演讲稿，再写内容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求：研究方案4.2。顶部写与研究内容2一致的任务名称。三个子任务说明研究步骤；下部技术路线图交代输入、核心方法、输出、验证。使用必要公式时解释符号、假设和作用，具体模型以材料为准。图内文字和连线均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模板使用说明（不朗读）</a:t>
            </a:r>
          </a:p>
          <a:p xmlns:a="http://schemas.openxmlformats.org/drawingml/2006/main">
            <a:r>
              <a:t>通用开题答辩模板，共28页，正文版式按七个章节排列。封面第1页、目录第3页、结束页第28页；第2、27页为说明页，正式稿删除。按材料选择同章版式，删除未选页面并重算页码。保留4∶3、白底、蓝色标题栏、黑体正文、红色强调、浅粉色小标题、蓝色总结框和虚线分隔。所有占位内容须按当前课题替换。研究现状一类一页，页面标明真实论文作者、刊会和年份；背景按3、6、1个图位保留，缺图框内留空；方案保留三条编号任务；所有公式使用PowerPoint自带的原生可编辑公式，不能用普通文本拼接。实际PPT的备注先写可直接照读的学术演讲稿，再写内容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求：研究方案4.3。顶部写与研究内容3一致的任务名称。三个子任务说明研究步骤；下部技术路线图交代输入、核心方法、输出、验证。使用必要公式时解释符号、假设和作用，具体模型以材料为准。图内文字和连线均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部分主要解决【问题】。首先，根据【工况与约束】建立【模型】或准备【数据】，明确方法的输入条件。其次，采用【核心方法】完成【关键处理】，图中【对应模块】的作用是【机制及输出】。最后，将【输出】用于【验证任务】，通过与【对照对象】比较【指标】来判断方法的有效性。该结果还将为【后续研究内容】提供【具体支撑】。</a:t>
            </a:r>
          </a:p>
          <a:p xmlns:a="http://schemas.openxmlformats.org/drawingml/2006/main">
            <a:r>
              <a:t>内容来源（不朗读）</a:t>
            </a:r>
          </a:p>
          <a:p xmlns:a="http://schemas.openxmlformats.org/drawingml/2006/main">
            <a:r>
              <a:t>这是可填写的模板演讲稿，不是任何课题的已核实事实。实际制作须替换为报告章节、完整论文信息及图号。</a:t>
            </a:r>
          </a:p>
          <a:p xmlns:a="http://schemas.openxmlformats.org/drawingml/2006/main">
            <a:r>
              <a:t>模板选用说明（不朗读）</a:t>
            </a:r>
          </a:p>
          <a:p xmlns:a="http://schemas.openxmlformats.org/drawingml/2006/main">
            <a:r>
              <a:t>L06，保留三条可见任务和大图位。可用于模型与辨识、数据处理或方法设计与验证。不得因原稿有四条或纯流程图而省略三条；没有获准技术路线图时留空。 保留原封面、目录与章节结构。本页仅为备选，不自动计入正式稿；选用后替换占位，删除未选备选页，统一重算页码。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模板使用说明（不朗读）</a:t>
            </a:r>
          </a:p>
          <a:p xmlns:a="http://schemas.openxmlformats.org/drawingml/2006/main">
            <a:r>
              <a:t>通用开题答辩模板，共28页，正文版式按七个章节排列。封面第1页、目录第3页、结束页第28页；第2、27页为说明页，正式稿删除。按材料选择同章版式，删除未选页面并重算页码。保留4∶3、白底、蓝色标题栏、黑体正文、红色强调、浅粉色小标题、蓝色总结框和虚线分隔。所有占位内容须按当前课题替换。研究现状一类一页，页面标明真实论文作者、刊会和年份；背景按3、6、1个图位保留，缺图框内留空；方案保留三条编号任务；所有公式使用PowerPoint自带的原生可编辑公式，不能用普通文本拼接。实际PPT的备注先写可直接照读的学术演讲稿，再写内容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本页要求：时间表为原生可编辑表格。替换全部时间区间，按研究任务安排阶段工作与可交付成果。时间须连续且先后合理，已完成与计划内容分开说明。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模板使用说明（不朗读）</a:t>
            </a:r>
          </a:p>
          <a:p xmlns:a="http://schemas.openxmlformats.org/drawingml/2006/main">
            <a:r>
              <a:t>通用开题答辩模板，共28页，正文版式按七个章节排列。封面第1页、目录第3页、结束页第28页；第2、27页为说明页，正式稿删除。按材料选择同章版式，删除未选页面并重算页码。保留4∶3、白底、蓝色标题栏、黑体正文、红色强调、浅粉色小标题、蓝色总结框和虚线分隔。所有占位内容须按当前课题替换。研究现状一类一页，页面标明真实论文作者、刊会和年份；背景按3、6、1个图位保留，缺图框内留空；方案保留三条编号任务；所有公式使用PowerPoint自带的原生可编辑公式，不能用普通文本拼接。实际PPT的备注先写可直接照读的学术演讲稿，再写内容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本页要求：已有条件必须真实。可以包括知识技能、已完成模型、仿真平台、实验设备与数据。经费说明已有保障、仍需支出和来源；不默认实验室承担费用。硕士版本可拆成已具备和仍需的条件。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已经完成【真实工作】。左侧展示了【模型或实验设置】，其中【关键条件】用于保证【目的】。右侧给出了【实际结果】，并与【基线】在【共同工况】下进行了比较。从表中【指标】可以看到，【有数据支撑的结论】。目前的验证范围为【范围】，后续仍需完成【尚未完成的工作】。</a:t>
            </a:r>
          </a:p>
          <a:p xmlns:a="http://schemas.openxmlformats.org/drawingml/2006/main">
            <a:r>
              <a:t>内容来源（不朗读）</a:t>
            </a:r>
          </a:p>
          <a:p xmlns:a="http://schemas.openxmlformats.org/drawingml/2006/main">
            <a:r>
              <a:t>这是可填写的模板演讲稿，不是任何课题的已核实事实。实际制作须替换为报告章节、完整论文信息及图号。</a:t>
            </a:r>
          </a:p>
          <a:p xmlns:a="http://schemas.openxmlformats.org/drawingml/2006/main">
            <a:r>
              <a:t>模板选用说明（不朗读）</a:t>
            </a:r>
          </a:p>
          <a:p xmlns:a="http://schemas.openxmlformats.org/drawingml/2006/main">
            <a:r>
              <a:t>L07，属于原研究基础章节的小板块，不新增目录项。两图位与原生表格用于方法、证据和结论对应；只用本人的真实结果，没有结果时使用原研究基础文字页，不搬用参考稿实验作为本人工作。 保留原封面、目录与章节结构。本页仅为备选，不自动计入正式稿；选用后替换占位，删除未选备选页，统一重算页码。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模板使用说明（不朗读）</a:t>
            </a:r>
          </a:p>
          <a:p xmlns:a="http://schemas.openxmlformats.org/drawingml/2006/main">
            <a:r>
              <a:t>通用开题答辩模板，共28页，正文版式按七个章节排列。封面第1页、目录第3页、结束页第28页；第2、27页为说明页，正式稿删除。按材料选择同章版式，删除未选页面并重算页码。保留4∶3、白底、蓝色标题栏、黑体正文、红色强调、浅粉色小标题、蓝色总结框和虚线分隔。所有占位内容须按当前课题替换。研究现状一类一页，页面标明真实论文作者、刊会和年份；背景按3、6、1个图位保留，缺图框内留空；方案保留三条编号任务；所有公式使用PowerPoint自带的原生可编辑公式，不能用普通文本拼接。实际PPT的备注先写可直接照读的学术演讲稿，再写内容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本页要求：困难与措施一一对应。优先写具体技术风险、数据条件或验证困难，措施包含可执行路径或备选办法。不要只写“多读论文、请教老师”。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题推进中需要重点关注【实际存在的困难】。第一项困难是【问题】，它会影响【具体任务】，拟通过【措施】加以解决，并检查【判断依据】。第二项是【问题与影响】，对应采用【措施】。对于【其余风险】，将依据【已有计划】进行处理。上述措施与研究任务逐项对应，其中需要优先解决的是【关键风险】。</a:t>
            </a:r>
          </a:p>
          <a:p xmlns:a="http://schemas.openxmlformats.org/drawingml/2006/main">
            <a:r>
              <a:t>内容来源（不朗读）</a:t>
            </a:r>
          </a:p>
          <a:p xmlns:a="http://schemas.openxmlformats.org/drawingml/2006/main">
            <a:r>
              <a:t>这是可填写的模板演讲稿，不是任何课题的已核实事实。实际制作须替换为报告章节、完整论文信息及图号。</a:t>
            </a:r>
          </a:p>
          <a:p xmlns:a="http://schemas.openxmlformats.org/drawingml/2006/main">
            <a:r>
              <a:t>模板选用说明（不朗读）</a:t>
            </a:r>
          </a:p>
          <a:p xmlns:a="http://schemas.openxmlformats.org/drawingml/2006/main">
            <a:r>
              <a:t>L08，采用原生可编辑表格，困难数量按实际内容增减，不强行凑三项。措施不能全部写成查阅文献，不编造未确定的试验或指标。 保留原封面、目录与章节结构。本页仅为备选，不自动计入正式稿；选用后替换占位，删除未选备选页，统一重算页码。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模板使用说明（不朗读）</a:t>
            </a:r>
          </a:p>
          <a:p xmlns:a="http://schemas.openxmlformats.org/drawingml/2006/main">
            <a:r>
              <a:t>通用开题答辩模板，共28页，正文版式按七个章节排列。封面第1页、目录第3页、结束页第28页；第2、27页为说明页，正式稿删除。按材料选择同章版式，删除未选页面并重算页码。保留4∶3、白底、蓝色标题栏、黑体正文、红色强调、浅粉色小标题、蓝色总结框和虚线分隔。所有占位内容须按当前课题替换。研究现状一类一页，页面标明真实论文作者、刊会和年份；背景按3、6、1个图位保留，缺图框内留空；方案保留三条编号任务；所有公式使用PowerPoint自带的原生可编辑公式，不能用普通文本拼接。实际PPT的备注先写可直接照读的学术演讲稿，再写内容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本页为交付检查说明，正式稿删除。检查内容来源、公式对象、图片可读性和备注，更新实际页码。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模板使用说明（不朗读）</a:t>
            </a:r>
          </a:p>
          <a:p xmlns:a="http://schemas.openxmlformats.org/drawingml/2006/main">
            <a:r>
              <a:t>通用开题答辩模板，共28页，正文版式按七个章节排列。封面第1页、目录第3页、结束页第28页；第2、27页为说明页，正式稿删除。按材料选择同章版式，删除未选页面并重算页码。保留4∶3、白底、蓝色标题栏、黑体正文、红色强调、浅粉色小标题、蓝色总结框和虚线分隔。所有占位内容须按当前课题替换。研究现状一类一页，页面标明真实论文作者、刊会和年份；背景按3、6、1个图位保留，缺图框内留空；方案保留三条编号任务；所有公式使用PowerPoint自带的原生可编辑公式，不能用普通文本拼接。实际PPT的备注先写可直接照读的学术演讲稿，再写内容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本页要求：结束页沿用原稿白底和居中大字，不添加大段总结。保留右下页码。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80ea0508b14c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b8e36a75e974c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ffb3dd86604e94" /><Relationship Type="http://schemas.openxmlformats.org/officeDocument/2006/relationships/slideLayout" Target="/ppt/slideLayouts/slideLayout1.xml" Id="Rbcc7ba189bcb411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6a5775d1c4c4704" /><Relationship Type="http://schemas.openxmlformats.org/officeDocument/2006/relationships/slideLayout" Target="/ppt/slideLayouts/slideLayout2.xml" Id="R9b704122376d4c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c7ba189bcb41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9b704122376d4c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4564187564041" /><Relationship Type="http://schemas.openxmlformats.org/officeDocument/2006/relationships/image" Target="/ppt/media/image.jpeg" Id="Rbd4a52caa45c4c24" /><Relationship Type="http://schemas.openxmlformats.org/officeDocument/2006/relationships/notesSlide" Target="/ppt/notesSlides/notesSlide1.xml" Id="R493751742ab14a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72f5165184bf4" /><Relationship Type="http://schemas.openxmlformats.org/officeDocument/2006/relationships/notesSlide" Target="/ppt/notesSlides/notesSlide2.xml" Id="Rf2304b0870304e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a1fe2724f4ae1" /><Relationship Type="http://schemas.openxmlformats.org/officeDocument/2006/relationships/notesSlide" Target="/ppt/notesSlides/notesSlide3.xml" Id="R69439be1478548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9867e5aa14909" /><Relationship Type="http://schemas.openxmlformats.org/officeDocument/2006/relationships/notesSlide" Target="/ppt/notesSlides/notesSlide4.xml" Id="R45c54d568db240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07391aae154374" /><Relationship Type="http://schemas.openxmlformats.org/officeDocument/2006/relationships/notesSlide" Target="/ppt/notesSlides/notesSlide5.xml" Id="R0750a9afe2b74e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d73c391464ba8" /><Relationship Type="http://schemas.openxmlformats.org/officeDocument/2006/relationships/notesSlide" Target="/ppt/notesSlides/notesSlide6.xml" Id="Rb6c493ff78694b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540fc37eec45e4" /><Relationship Type="http://schemas.openxmlformats.org/officeDocument/2006/relationships/notesSlide" Target="/ppt/notesSlides/notesSlide7.xml" Id="R22bc79f6b12745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f57949d4448fb" /><Relationship Type="http://schemas.openxmlformats.org/officeDocument/2006/relationships/notesSlide" Target="/ppt/notesSlides/notesSlide8.xml" Id="R9d33b436d32549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ac747fee14e5f" /><Relationship Type="http://schemas.openxmlformats.org/officeDocument/2006/relationships/notesSlide" Target="/ppt/notesSlides/notesSlide9.xml" Id="Rd85ebb9edf5546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ac9f420cc492c" /><Relationship Type="http://schemas.openxmlformats.org/officeDocument/2006/relationships/notesSlide" Target="/ppt/notesSlides/notesSlide10.xml" Id="R995f51153a4345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a67a7696740e8" /><Relationship Type="http://schemas.openxmlformats.org/officeDocument/2006/relationships/notesSlide" Target="/ppt/notesSlides/notesSlide11.xml" Id="R6d648f0e0a8048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38b1274b7046ba" /><Relationship Type="http://schemas.openxmlformats.org/officeDocument/2006/relationships/notesSlide" Target="/ppt/notesSlides/notesSlide12.xml" Id="R7b2057e5ef334b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355912cd64494" /><Relationship Type="http://schemas.openxmlformats.org/officeDocument/2006/relationships/notesSlide" Target="/ppt/notesSlides/notesSlide13.xml" Id="R952522d453a144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56fcf6ca545a4" /><Relationship Type="http://schemas.openxmlformats.org/officeDocument/2006/relationships/notesSlide" Target="/ppt/notesSlides/notesSlide14.xml" Id="R569a37a2dbdc4b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e3b2a1845e49e0" /><Relationship Type="http://schemas.openxmlformats.org/officeDocument/2006/relationships/notesSlide" Target="/ppt/notesSlides/notesSlide15.xml" Id="Ra9aaa27789744d8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17d405348482f" /><Relationship Type="http://schemas.openxmlformats.org/officeDocument/2006/relationships/notesSlide" Target="/ppt/notesSlides/notesSlide16.xml" Id="R9bd259f55250446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e55d9629844856" /><Relationship Type="http://schemas.openxmlformats.org/officeDocument/2006/relationships/notesSlide" Target="/ppt/notesSlides/notesSlide17.xml" Id="R5f02ebc3a92a4ca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ea19c20df4193" /><Relationship Type="http://schemas.openxmlformats.org/officeDocument/2006/relationships/notesSlide" Target="/ppt/notesSlides/notesSlide18.xml" Id="Rd3f5ba21cc6049f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d0efde3b248cc" /><Relationship Type="http://schemas.openxmlformats.org/officeDocument/2006/relationships/notesSlide" Target="/ppt/notesSlides/notesSlide19.xml" Id="R9b3b6bb7f1a84e3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21d8393be4c5a" /><Relationship Type="http://schemas.openxmlformats.org/officeDocument/2006/relationships/notesSlide" Target="/ppt/notesSlides/notesSlide20.xml" Id="R1e099fb7fa1c44a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c8825309194ee1" /><Relationship Type="http://schemas.openxmlformats.org/officeDocument/2006/relationships/notesSlide" Target="/ppt/notesSlides/notesSlide21.xml" Id="Rfa7edcff4ec7468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b1e1bd0e143dc" /><Relationship Type="http://schemas.openxmlformats.org/officeDocument/2006/relationships/notesSlide" Target="/ppt/notesSlides/notesSlide22.xml" Id="Rd1d43b6531e6484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b2c6c98634ffd" /><Relationship Type="http://schemas.openxmlformats.org/officeDocument/2006/relationships/notesSlide" Target="/ppt/notesSlides/notesSlide23.xml" Id="Rc57ede2792e24f3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dd78ba150b4b4c" /><Relationship Type="http://schemas.openxmlformats.org/officeDocument/2006/relationships/notesSlide" Target="/ppt/notesSlides/notesSlide24.xml" Id="Rf009f4a4ccf74dd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6f6f0fcca414d" /><Relationship Type="http://schemas.openxmlformats.org/officeDocument/2006/relationships/notesSlide" Target="/ppt/notesSlides/notesSlide25.xml" Id="R9bd0c35f39164a3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23f00696254351" /><Relationship Type="http://schemas.openxmlformats.org/officeDocument/2006/relationships/notesSlide" Target="/ppt/notesSlides/notesSlide26.xml" Id="R1132231ead384d7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cd31bb0e74fb5" /><Relationship Type="http://schemas.openxmlformats.org/officeDocument/2006/relationships/notesSlide" Target="/ppt/notesSlides/notesSlide27.xml" Id="R4f31d1c9c71f45d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b18f6bad84b4f" /><Relationship Type="http://schemas.openxmlformats.org/officeDocument/2006/relationships/notesSlide" Target="/ppt/notesSlides/notesSlide28.xml" Id="R58d26ea7342e4e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4a52caa45c4c24"/>
          <a:stretch xmlns:a="http://schemas.openxmlformats.org/drawingml/2006/main"/>
        </p:blipFill>
        <p:spPr>
          <a:xfrm xmlns:a="http://schemas.openxmlformats.org/drawingml/2006/main">
            <a:off x="721043" y="476618"/>
            <a:ext cx="1150620" cy="93461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800EE-85CE-4646-946C-294C0281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09600"/>
            <a:ext cx="628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2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32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本科毕业设计开题答辩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2E660-B6AC-4A3D-9893-BD0A5781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2175"/>
            <a:ext cx="762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36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【在此填写毕业设计题目】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B821E-6485-45C4-8D29-0FACD3EB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861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规范化模板 · 含填写说明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F1AE8-38C5-43A9-9C44-12ECB3C1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162425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姓　名：【姓名】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学　号：【学号】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导　师：【姓名及职称】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日　期：【年 / 月 / 日】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29665-D8FB-483C-96BB-A72A114F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6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1/28</a:t>
            </a:r>
          </a:p>
        </p:txBody>
      </p:sp>
    </p:spTree>
    <p:extLst>
      <p:ext uri="{BB962C8B-B14F-4D97-AF65-F5344CB8AC3E}">
        <p14:creationId xmlns:p14="http://schemas.microsoft.com/office/powerpoint/2010/main" val="7044083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E1436-4B16-4DAE-98DE-EA81AD37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D5D6C-C81E-4097-A43E-201AC364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600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模板使用说明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41CAF-EB5D-4E8B-B0D3-D6F0670C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42975"/>
            <a:ext cx="733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E8341-0C2F-496C-8E16-DE2330E3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42975"/>
            <a:ext cx="718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以后把本模板与课题材料一起发送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8CD23-072B-4088-AAB1-E1D0AF10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85900"/>
            <a:ext cx="8458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3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（1）同时提供：题目、任务书或开题报告、论文及图片。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F03CF-E23D-4BF3-8430-4C9E0C3A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76475"/>
            <a:ext cx="8458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3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（2）说明答辩时长、希望页数、姓名、导师和日期。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48A4F-8212-4676-BC17-3C32D49F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067050"/>
            <a:ext cx="8458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3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（3）复制合适的版式，替换【占位内容】和示意图。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C62B6-3F23-483F-9667-5025FDCC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57625"/>
            <a:ext cx="8458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3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（4）保留标题栏、框线、基本栏目及对应字体样式。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81915-662A-45D6-BAB3-EE6318D4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48200"/>
            <a:ext cx="8458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3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（5）删除说明页与填写提示，检查页码后交付正式稿。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CD70B-BF59-465A-9462-06619AC3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29275"/>
            <a:ext cx="8610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AA340-9269-4982-AA59-EC33BA0F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95950"/>
            <a:ext cx="830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交给制作人的要求：先读每页备注，再按本模板套版。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08017-4CAF-4CAE-BE47-5CC043FA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293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16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文字与图表可编辑；占位框只表示内容位置。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AA1AE-F349-495C-BD43-F418126F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6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2/28</a:t>
            </a:r>
          </a:p>
        </p:txBody>
      </p:sp>
    </p:spTree>
    <p:extLst>
      <p:ext uri="{BB962C8B-B14F-4D97-AF65-F5344CB8AC3E}">
        <p14:creationId xmlns:p14="http://schemas.microsoft.com/office/powerpoint/2010/main" val="21371389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06A9A-078F-4C1A-8663-EECBD795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81F99-7BCC-4803-A383-DBD4F163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600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汇报内容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C1F6C-DE29-4EF5-B1BA-5D95354B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200150"/>
            <a:ext cx="7696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8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一、研究目的和意义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AB4CE-A618-40C8-B645-0F728F64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866900"/>
            <a:ext cx="7696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8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二、国内外研究现状及分析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D3772-15AD-4B37-A18F-BBED40A0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33650"/>
            <a:ext cx="7696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8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三、研究目标及研究内容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E56EB-FFEC-4C20-BC12-16B82260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200400"/>
            <a:ext cx="7696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8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四、研究方案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B9436-EC8E-4C60-98EF-8D090CD3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67150"/>
            <a:ext cx="7696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8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五、进度安排与预期成果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AE05B-E5A0-4616-8DD2-609FF7AE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33900"/>
            <a:ext cx="7696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8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六、研究基础及经费预算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E54F18-4868-4E3F-B62A-440810E9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200650"/>
            <a:ext cx="7696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8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七、可能遇到的困难及解决措施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1E664-709F-4627-BDE3-4467EF89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842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14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填写说明：章节名称与正文统一；增加页数时不必增加章节。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4C075-357A-456A-B5C8-44CFB0E3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6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3/28</a:t>
            </a:r>
          </a:p>
        </p:txBody>
      </p:sp>
    </p:spTree>
    <p:extLst>
      <p:ext uri="{BB962C8B-B14F-4D97-AF65-F5344CB8AC3E}">
        <p14:creationId xmlns:p14="http://schemas.microsoft.com/office/powerpoint/2010/main" val="14606658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475BB-7E5D-45D5-B079-CD67B561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C7126-B177-42C1-AEC7-27A710DF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600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一、研究目的和意义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42A1B-8DC2-4789-A0A2-A3D7B272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04875"/>
            <a:ext cx="571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6CD6F-25A1-4009-B419-CE821DC8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04875"/>
            <a:ext cx="556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【应用背景与任务需求】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5D79C-7B9F-4CE0-950E-E718FEE1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562100"/>
            <a:ext cx="2619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0478">
            <a:solidFill>
              <a:srgbClr val="7CA8C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4BEBA-731E-4831-9645-757DC5F1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2333625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任务 / 工程图片①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55007-1D80-4D61-B41F-D0748A42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62100"/>
            <a:ext cx="2619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0478">
            <a:solidFill>
              <a:srgbClr val="7CA8C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3BBC9-53D4-48DA-AD18-EF790369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676400"/>
            <a:ext cx="2333625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应用场景图片②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76ED9-D93A-4FA2-ADD1-97FA6281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562100"/>
            <a:ext cx="2619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0478">
            <a:solidFill>
              <a:srgbClr val="7CA8C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2002D-C59C-49D0-BBD0-A762464F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76400"/>
            <a:ext cx="2333625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研究对象图片③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7B2BD-12B9-4E72-B6D0-11742735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514850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【任务名称与时间】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659A5-9C9C-4D92-B3F0-51EF4B25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14850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【典型环境或场景】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530DE-A262-4797-9D21-518D6011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514850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【研究对象与作用】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FE2A4-0E3B-4780-B3C5-CD9CAD68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29225"/>
            <a:ext cx="8610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C1734-D95F-4650-ADD0-748B6404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95900"/>
            <a:ext cx="8305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【用一句话说明：任务对研究对象提出了什么需求】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E2083-8511-4CA7-AA13-BE042A9C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842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14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填写说明：</a:t>
            </a:r>
            <a:r>
              <a:rPr sz="14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保留3个图片位置，缺图留空</a:t>
            </a:r>
            <a:r>
              <a:rPr sz="14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；关键需求可用红字强调。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A8947-F4EC-4F51-A349-AD92FB8E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6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4/28</a:t>
            </a:r>
          </a:p>
        </p:txBody>
      </p:sp>
    </p:spTree>
    <p:extLst>
      <p:ext uri="{BB962C8B-B14F-4D97-AF65-F5344CB8AC3E}">
        <p14:creationId xmlns:p14="http://schemas.microsoft.com/office/powerpoint/2010/main" val="19309216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475BB-7E5D-45D5-B079-CD67B561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C7126-B177-42C1-AEC7-27A710DF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225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一、研究目的和意义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42A1B-8DC2-4789-A0A2-A3D7B272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953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6CD6F-25A1-4009-B419-CE821DC8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95350"/>
            <a:ext cx="833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25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【任务需求与关键能力】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FE2A4-0E3B-4780-B3C5-CD9CAD68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553075"/>
            <a:ext cx="8610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C1734-D95F-4650-ADD0-748B6404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91175"/>
            <a:ext cx="8343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10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【任务要求】与【现有能力】之间，仍存在【关键瓶颈】。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A8947-F4EC-4F51-A349-AD92FB8E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150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5/28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1C368B-7BA6-47FB-8BED-C8F8607F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7365D"/>
                </a:solidFill>
                <a:latin typeface="黑体"/>
                <a:ea typeface="黑体"/>
                <a:cs typeface="黑体"/>
              </a:defRPr>
            </a:pPr>
            <a:r>
              <a:rPr sz="2325" b="1">
                <a:solidFill>
                  <a:srgbClr val="17365D"/>
                </a:solidFill>
                <a:latin typeface="黑体"/>
                <a:ea typeface="黑体"/>
                <a:cs typeface="黑体"/>
              </a:rPr>
              <a:t>任务场景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BE6DEA-03AB-4F5E-8858-2E92A781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19300"/>
            <a:ext cx="2667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BB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CF772A-3832-4AD1-8833-1FED56AB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24325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365D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17365D"/>
                </a:solidFill>
                <a:latin typeface="黑体"/>
                <a:ea typeface="黑体"/>
                <a:cs typeface="黑体"/>
              </a:rPr>
              <a:t>【任务场景图】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99FC50-33BF-402F-8F73-EE21CB13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291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025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【具体任务需求】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92866B-2999-405F-B7A5-B9647358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85900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7365D"/>
                </a:solidFill>
                <a:latin typeface="黑体"/>
                <a:ea typeface="黑体"/>
                <a:cs typeface="黑体"/>
              </a:defRPr>
            </a:pPr>
            <a:r>
              <a:rPr sz="2325" b="1">
                <a:solidFill>
                  <a:srgbClr val="17365D"/>
                </a:solidFill>
                <a:latin typeface="黑体"/>
                <a:ea typeface="黑体"/>
                <a:cs typeface="黑体"/>
              </a:rPr>
              <a:t>已有能力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3549D2-070B-4EC5-AF36-66070372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19300"/>
            <a:ext cx="2667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BB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49C281-7762-4F20-A13C-696B4E39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24325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365D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17365D"/>
                </a:solidFill>
                <a:latin typeface="黑体"/>
                <a:ea typeface="黑体"/>
                <a:cs typeface="黑体"/>
              </a:rPr>
              <a:t>【能力或平台图】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32857F-6D2E-4960-AACA-6DCECB5E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291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025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【目前能完成什么】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E63B33-E11B-4374-8E6D-5E3B3DCE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85900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7365D"/>
                </a:solidFill>
                <a:latin typeface="黑体"/>
                <a:ea typeface="黑体"/>
                <a:cs typeface="黑体"/>
              </a:defRPr>
            </a:pPr>
            <a:r>
              <a:rPr sz="2325" b="1">
                <a:solidFill>
                  <a:srgbClr val="17365D"/>
                </a:solidFill>
                <a:latin typeface="黑体"/>
                <a:ea typeface="黑体"/>
                <a:cs typeface="黑体"/>
              </a:rPr>
              <a:t>尚存问题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ADBBD9-4E86-4442-A538-2C09D59A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2667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BB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86D6AA-4A77-49B8-9ECB-A2A68A99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24325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365D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17365D"/>
                </a:solidFill>
                <a:latin typeface="黑体"/>
                <a:ea typeface="黑体"/>
                <a:cs typeface="黑体"/>
              </a:rPr>
              <a:t>【问题或限制图】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D250AC-8732-427C-8F8F-96B9063B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025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【还缺少哪种能力】</a:t>
            </a:r>
          </a:p>
        </p:txBody>
      </p:sp>
    </p:spTree>
    <p:extLst>
      <p:ext uri="{BB962C8B-B14F-4D97-AF65-F5344CB8AC3E}">
        <p14:creationId xmlns:p14="http://schemas.microsoft.com/office/powerpoint/2010/main" val="19309216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EE10F0-7F2D-46B1-B99D-016F0C54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7BFA7-FBD4-4BF1-AD5C-1938688B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600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一、研究目的和意义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98180-477C-490C-A85E-612E9084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85825"/>
            <a:ext cx="6800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A1683-3F1F-4811-9A87-90019BAD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85825"/>
            <a:ext cx="664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【复杂环境与现有系统的局限】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BA719-C4A4-440D-AF0F-2D28B7BE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57325"/>
            <a:ext cx="261937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0478">
            <a:solidFill>
              <a:srgbClr val="7CA8C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7AEAE-439D-4779-A3CD-C8B6320F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571625"/>
            <a:ext cx="233362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典型环境①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3DF0A-840B-4293-8E9D-45883F0B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457325"/>
            <a:ext cx="261937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0478">
            <a:solidFill>
              <a:srgbClr val="7CA8C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25A72-D5D2-4FA6-8CA6-4FC346A2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71625"/>
            <a:ext cx="233362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典型环境②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C77E6-8A90-4960-8291-929CE7C0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57325"/>
            <a:ext cx="261937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0478">
            <a:solidFill>
              <a:srgbClr val="7CA8C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0DCDF-A215-4B22-A3EF-885FBDE6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571625"/>
            <a:ext cx="233362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典型环境③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A4ED5-9E59-48FD-A8B4-000ADDCC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162300"/>
            <a:ext cx="8610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B84EB-0675-419C-8CF7-27B41C32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28975"/>
            <a:ext cx="8305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【具体环境】导致</a:t>
            </a:r>
            <a:r>
              <a:rPr sz="2400" b="0">
                <a:solidFill>
                  <a:srgbClr val="FF0000"/>
                </a:solidFill>
                <a:latin typeface="黑体"/>
                <a:ea typeface="黑体"/>
                <a:cs typeface="黑体"/>
              </a:rPr>
              <a:t>【性能问题】</a:t>
            </a: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，现有方法仍缺少</a:t>
            </a:r>
            <a:r>
              <a:rPr sz="2400" b="0">
                <a:solidFill>
                  <a:srgbClr val="FF0000"/>
                </a:solidFill>
                <a:latin typeface="黑体"/>
                <a:ea typeface="黑体"/>
                <a:cs typeface="黑体"/>
              </a:rPr>
              <a:t>【能力】</a:t>
            </a: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043DDB-A599-41F1-99C8-093990C2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91000"/>
            <a:ext cx="26193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0478">
            <a:solidFill>
              <a:srgbClr val="7CA8C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948585-149A-4916-8F9C-3BAF0B19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305300"/>
            <a:ext cx="23336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问题 / 失败案例①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9C48E1-D8E3-4FA7-9FC5-58146FF7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191000"/>
            <a:ext cx="26193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0478">
            <a:solidFill>
              <a:srgbClr val="7CA8C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2A84F-69AC-469E-AC28-1C94812B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05300"/>
            <a:ext cx="23336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问题 / 失败案例②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1E6603-7EDD-4E86-8C5C-22D40F29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91000"/>
            <a:ext cx="26193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0478">
            <a:solidFill>
              <a:srgbClr val="7CA8C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38E1F-FC96-42E6-ADC1-8B9C5B00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305300"/>
            <a:ext cx="23336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问题 / 失败案例③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B907D5-906C-4A97-BE1C-97247CE7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842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14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填写说明：配图直接支持问题判断；案例来源写入图注或备注。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217090-7F1E-41CB-B742-D2A6CBB1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6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6/28</a:t>
            </a:r>
          </a:p>
        </p:txBody>
      </p:sp>
    </p:spTree>
    <p:extLst>
      <p:ext uri="{BB962C8B-B14F-4D97-AF65-F5344CB8AC3E}">
        <p14:creationId xmlns:p14="http://schemas.microsoft.com/office/powerpoint/2010/main" val="13300945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475BB-7E5D-45D5-B079-CD67B561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C7126-B177-42C1-AEC7-27A710DF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225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一、研究目的和意义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42A1B-8DC2-4789-A0A2-A3D7B272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953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6CD6F-25A1-4009-B419-CE821DC8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95350"/>
            <a:ext cx="833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25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【对象特性、环境约束与技术问题】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FE2A4-0E3B-4780-B3C5-CD9CAD68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553075"/>
            <a:ext cx="8610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C1734-D95F-4650-ADD0-748B6404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91175"/>
            <a:ext cx="8343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10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【对象特性或环境约束】导致【具体问题】，需要解决【技术难点】。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A8947-F4EC-4F51-A349-AD92FB8E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150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7/28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CF5E6E-3D5D-4D8F-ABDF-7C19E416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95425"/>
            <a:ext cx="26670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BB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DB8531-B4EA-4250-BE3D-2956F59B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2417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7365D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17365D"/>
                </a:solidFill>
                <a:latin typeface="黑体"/>
                <a:ea typeface="黑体"/>
                <a:cs typeface="黑体"/>
              </a:rPr>
              <a:t>【环境或特性1】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6E03C7-21EF-4AEA-8328-2B563DA5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95425"/>
            <a:ext cx="26670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BB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EA5548-AAA9-4DD6-B02A-912CFA08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2417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7365D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17365D"/>
                </a:solidFill>
                <a:latin typeface="黑体"/>
                <a:ea typeface="黑体"/>
                <a:cs typeface="黑体"/>
              </a:rPr>
              <a:t>【环境或特性2】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34E9D8-C217-4C1E-B61A-A2434B92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5425"/>
            <a:ext cx="26670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BB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E53169-62E5-4F50-AE7A-7BF4D2CB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2417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7365D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17365D"/>
                </a:solidFill>
                <a:latin typeface="黑体"/>
                <a:ea typeface="黑体"/>
                <a:cs typeface="黑体"/>
              </a:rPr>
              <a:t>【环境或特性3】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2E1329-A0BC-4F72-ADD2-270634CC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76625"/>
            <a:ext cx="26670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BB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478D46-7A48-4D3C-99A9-97613C2E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0537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7365D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17365D"/>
                </a:solidFill>
                <a:latin typeface="黑体"/>
                <a:ea typeface="黑体"/>
                <a:cs typeface="黑体"/>
              </a:rPr>
              <a:t>【对应问题1】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F639D3-29D4-4746-B565-A24F4EC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76625"/>
            <a:ext cx="26670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BB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BF4439-31FF-4359-83BB-916867A9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0537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7365D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17365D"/>
                </a:solidFill>
                <a:latin typeface="黑体"/>
                <a:ea typeface="黑体"/>
                <a:cs typeface="黑体"/>
              </a:rPr>
              <a:t>【对应问题2】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EC1BFF-94DD-49D5-9281-738BE919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76625"/>
            <a:ext cx="26670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BB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1D472C-B072-4078-B744-6A645AA6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0537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7365D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17365D"/>
                </a:solidFill>
                <a:latin typeface="黑体"/>
                <a:ea typeface="黑体"/>
                <a:cs typeface="黑体"/>
              </a:rPr>
              <a:t>【对应问题3】</a:t>
            </a:r>
          </a:p>
        </p:txBody>
      </p:sp>
    </p:spTree>
    <p:extLst>
      <p:ext uri="{BB962C8B-B14F-4D97-AF65-F5344CB8AC3E}">
        <p14:creationId xmlns:p14="http://schemas.microsoft.com/office/powerpoint/2010/main" val="19309216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6B444-746F-4F38-93A8-93722E6E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05F39-083C-4A0E-A32F-4AD214B6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600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一、研究目的和意义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9137D-E9EA-4759-B283-34F3FCB6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14400"/>
            <a:ext cx="628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92E4E-A977-46DA-A464-CDDA84A1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1440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【研究切入点与能力需求】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719DB-5AD9-4E96-AF7A-316C21E6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581150"/>
            <a:ext cx="395287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0478">
            <a:solidFill>
              <a:srgbClr val="7CA8C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CFE13-7043-4E08-97C4-BB516CF2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95450"/>
            <a:ext cx="3667125" cy="2886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研究对象 / 系统示意图</a:t>
            </a:r>
          </a:p>
          <a:p xmlns:a="http://schemas.openxmlformats.org/drawingml/2006/main">
            <a:pPr algn="ctr">
              <a:buNone/>
              <a:defRPr sz="20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替换为与课题相关的图片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11141-2BA8-4761-B24A-244D3E46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66875"/>
            <a:ext cx="342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2383">
            <a:solidFill>
              <a:srgbClr val="00009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9D0D8-E578-40A7-B655-80212329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7335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【输入或感知信息】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9E0F6-5D31-4916-A29B-B9863E57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09875"/>
            <a:ext cx="342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2383">
            <a:solidFill>
              <a:srgbClr val="00009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18F40-4BBE-411D-B157-79728756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765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【拟研究的关键方法】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9ADCB-35CA-45FA-9871-15933F4A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52875"/>
            <a:ext cx="342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2383">
            <a:solidFill>
              <a:srgbClr val="00009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0C1AF-7E82-44FA-B3FD-287CB7BA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195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【支撑的系统能力】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EC2C3-DC57-4F09-B2DE-D882C0F1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26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5A49B-A48C-4DD3-B589-E3EC0F4C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43300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26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D8CB4-7EAB-4D69-97BB-D93C5F0C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29225"/>
            <a:ext cx="8610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87753F-9C41-4BAB-B155-AD37BCAC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95900"/>
            <a:ext cx="8305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【说明关键方法如何满足前页提出的能力需求】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80899E-5E14-4F0E-9392-AD788305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842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14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填写说明：只解释研究位置与必要性，具体算法留到研究方案。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5759F-7FEA-42DD-9A7C-5867F7AB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6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8/28</a:t>
            </a:r>
          </a:p>
        </p:txBody>
      </p:sp>
    </p:spTree>
    <p:extLst>
      <p:ext uri="{BB962C8B-B14F-4D97-AF65-F5344CB8AC3E}">
        <p14:creationId xmlns:p14="http://schemas.microsoft.com/office/powerpoint/2010/main" val="357323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82533-B16E-4178-9142-99858118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C6751-9510-4D84-B6EC-63D5D8A0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600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一、研究目的和意义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4D1BA-F4BE-4098-BC00-65246ACA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4B4A7-EBD8-4D44-BC47-4443C8D0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8107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研究意义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113D2-1F53-46FE-9F31-AB9FFC31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90700"/>
            <a:ext cx="8267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（1）</a:t>
            </a:r>
            <a:r>
              <a:rPr sz="2400" b="0">
                <a:solidFill>
                  <a:srgbClr val="FF0000"/>
                </a:solidFill>
                <a:latin typeface="黑体"/>
                <a:ea typeface="黑体"/>
                <a:cs typeface="黑体"/>
              </a:rPr>
              <a:t>【理论或方法价值】</a:t>
            </a: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：解决什么建模或算法问题。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051A2-86B0-45A2-B1AB-934286D1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09900"/>
            <a:ext cx="8267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（2）</a:t>
            </a:r>
            <a:r>
              <a:rPr sz="2400" b="0">
                <a:solidFill>
                  <a:srgbClr val="FF0000"/>
                </a:solidFill>
                <a:latin typeface="黑体"/>
                <a:ea typeface="黑体"/>
                <a:cs typeface="黑体"/>
              </a:rPr>
              <a:t>【性能或能力价值】</a:t>
            </a: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：改善哪项能力及其原因。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B28E9-D231-4207-88E5-6EA0304A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229100"/>
            <a:ext cx="8267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（3）</a:t>
            </a:r>
            <a:r>
              <a:rPr sz="2400" b="0">
                <a:solidFill>
                  <a:srgbClr val="FF0000"/>
                </a:solidFill>
                <a:latin typeface="黑体"/>
                <a:ea typeface="黑体"/>
                <a:cs typeface="黑体"/>
              </a:rPr>
              <a:t>【工程或应用价值】</a:t>
            </a: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：支撑何种任务或实际应用。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2D56C-6ED4-440A-A5DF-8E0B5DB3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38800"/>
            <a:ext cx="821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建议表达：通过【研究工作】，为【目标任务】提供【具体支撑】。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3D149-A3D4-42DD-94B0-204C11CF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842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14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填写说明：用2—3条完整表述，每条控制在两行以内。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7B730-BDEB-4F7D-BA42-FA458E6D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6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9/28</a:t>
            </a:r>
          </a:p>
        </p:txBody>
      </p:sp>
    </p:spTree>
    <p:extLst>
      <p:ext uri="{BB962C8B-B14F-4D97-AF65-F5344CB8AC3E}">
        <p14:creationId xmlns:p14="http://schemas.microsoft.com/office/powerpoint/2010/main" val="18356030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24CE9-3797-4CAF-AA90-BA3D3C51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28414-EBD5-41AB-99C3-E1E9F3D7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600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二、国内外研究现状及分析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BA36C-82E2-43AA-BB8E-449EACD8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9535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81764-340A-4B42-979A-04477FC6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95350"/>
            <a:ext cx="670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【研究方向一：技术或研究对象】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E8AC3-613D-49A4-9B3B-9CB11E3D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57325"/>
            <a:ext cx="33242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0478">
            <a:solidFill>
              <a:srgbClr val="7CA8C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E5564-3CC6-499A-A7DE-1904DC0B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1625"/>
            <a:ext cx="30384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代表工作1</a:t>
            </a:r>
          </a:p>
          <a:p xmlns:a="http://schemas.openxmlformats.org/drawingml/2006/main">
            <a:pPr algn="ctr">
              <a:buNone/>
              <a:defRPr sz="20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论文图或实验图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B7226-0398-4728-92DA-D949A8DC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476375"/>
            <a:ext cx="489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19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【研究单位】（【年份 / 期刊】）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1487E-E589-4224-BCA7-C03A9652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85950"/>
            <a:ext cx="4895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方法：【采用何种方法】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结论：【主要发现或性能结果】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24B8D-6DE7-49D3-B87D-ED64587D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752725"/>
            <a:ext cx="847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FF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D0737-7D8C-4E18-AA3C-6F2E53CD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886075"/>
            <a:ext cx="33242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0478">
            <a:solidFill>
              <a:srgbClr val="7CA8C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4E7A0-7090-4D25-AC89-CBFA30EB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00375"/>
            <a:ext cx="30384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代表工作2</a:t>
            </a:r>
          </a:p>
          <a:p xmlns:a="http://schemas.openxmlformats.org/drawingml/2006/main">
            <a:pPr algn="ctr">
              <a:buNone/>
              <a:defRPr sz="20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论文图或实验图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9D605-D046-43F4-B220-C6753226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05125"/>
            <a:ext cx="489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19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【研究单位】（【年份 / 期刊】）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845A6-CD09-44BC-91CA-34B517C5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14700"/>
            <a:ext cx="4895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方法：【采用何种方法】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结论：【主要发现或性能结果】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F4F8DD-C094-4024-98D4-4543CC68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181475"/>
            <a:ext cx="847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F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6C1E0-F586-46A6-956D-0D5C4A88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314825"/>
            <a:ext cx="33242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0478">
            <a:solidFill>
              <a:srgbClr val="7CA8C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5FD3B-E958-4AC2-8424-78EE9C3A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29125"/>
            <a:ext cx="30384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代表工作3</a:t>
            </a:r>
          </a:p>
          <a:p xmlns:a="http://schemas.openxmlformats.org/drawingml/2006/main">
            <a:pPr algn="ctr">
              <a:buNone/>
              <a:defRPr sz="20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论文图或实验图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FEEAF-982A-4A68-AA72-73BBE114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333875"/>
            <a:ext cx="489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19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【研究单位】（【年份 / 期刊】）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D3780-C3D5-4D5D-A21B-9AF8534F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43450"/>
            <a:ext cx="4895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方法：【采用何种方法】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结论：【主要发现或性能结果】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48F25-72F0-4062-9CB9-4B45F7DF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842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14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填写说明：比较同类研究；详细出处与局限补入备注，结论须有依据。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E7125-A658-4F98-93C3-6925B974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6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10/28</a:t>
            </a:r>
          </a:p>
        </p:txBody>
      </p:sp>
    </p:spTree>
    <p:extLst>
      <p:ext uri="{BB962C8B-B14F-4D97-AF65-F5344CB8AC3E}">
        <p14:creationId xmlns:p14="http://schemas.microsoft.com/office/powerpoint/2010/main" val="5461894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7763FC-83E5-4E8C-9BFC-7701B413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DCB31-8289-4356-9563-45CD21F2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600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二、国内外研究现状及分析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6996D-F112-43FA-90E7-F30D1FC2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95350"/>
            <a:ext cx="628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EDDC7-AE9B-41CD-A81D-8B74519B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95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【研究方向二：另一类方法】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BDBF1-6C4A-46F3-B2AD-826C6EF5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28750"/>
            <a:ext cx="39719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0478">
            <a:solidFill>
              <a:srgbClr val="7CA8C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A59C9-5C2B-4D9E-873A-1C2D8DDB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36861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代表工作1：原始研究图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00E45-4B1E-433D-A352-0F70500D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790825"/>
            <a:ext cx="3971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【单位】（【年份 / 来源】）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66F0C-F5D5-46BD-B3AA-BA469587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152775"/>
            <a:ext cx="397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【方法 / 主要结论，一行概括】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DBDED-FDCC-4565-8916-91030EF9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28750"/>
            <a:ext cx="39719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0478">
            <a:solidFill>
              <a:srgbClr val="7CA8C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8FC61-8EC1-4826-9D19-2470C503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43050"/>
            <a:ext cx="36861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代表工作2：原始研究图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5A6CE-E3C5-4DE7-A02B-941A8CAB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90825"/>
            <a:ext cx="3971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【单位】（【年份 / 来源】）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5879F-0423-490E-956A-4C774110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52775"/>
            <a:ext cx="397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【方法 / 主要结论，一行概括】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9FEF6-87C1-44B4-AEB6-D4E279CE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724275"/>
            <a:ext cx="39719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0478">
            <a:solidFill>
              <a:srgbClr val="7CA8C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3FF5E-0DB5-481E-BE9C-8687F441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38575"/>
            <a:ext cx="36861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代表工作3：原始研究图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720AB-12A7-4D26-A56B-C693B9C4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086350"/>
            <a:ext cx="3971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【单位】（【年份 / 来源】）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E3641E-7F18-4FE0-8836-380FF2BD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448300"/>
            <a:ext cx="397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【方法 / 主要结论，一行概括】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D6B48D-73F0-4BE8-B31B-C22871FD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24275"/>
            <a:ext cx="39719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0478">
            <a:solidFill>
              <a:srgbClr val="7CA8C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A9CF1-F229-4D46-B36C-5AE94EC2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38575"/>
            <a:ext cx="36861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代表工作4：原始研究图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BC3CA-3F94-4911-B836-899F6BA6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86350"/>
            <a:ext cx="3971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【单位】（【年份 / 来源】）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C0E6AF-AA46-4DF0-84E5-07ED72ED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448300"/>
            <a:ext cx="3971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【方法 / 主要结论，一行概括】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79FB06-89EF-486E-8FCB-CBC08BC7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09700"/>
            <a:ext cx="0" cy="442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FF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246626-6183-4A11-B807-1E06FFCC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90925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FF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77E969-045C-4E0E-89F2-8A46EA16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842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14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填写说明：蓝色虚线分组，统一图注格式；不拉伸论文图片。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F43425-5ADB-42A9-81B5-0BBB3B11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6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11/28</a:t>
            </a:r>
          </a:p>
        </p:txBody>
      </p:sp>
    </p:spTree>
    <p:extLst>
      <p:ext uri="{BB962C8B-B14F-4D97-AF65-F5344CB8AC3E}">
        <p14:creationId xmlns:p14="http://schemas.microsoft.com/office/powerpoint/2010/main" val="19281381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475BB-7E5D-45D5-B079-CD67B561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C7126-B177-42C1-AEC7-27A710DF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225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二、国内外研究现状及分析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42A1B-8DC2-4789-A0A2-A3D7B272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953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6CD6F-25A1-4009-B419-CE821DC8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95350"/>
            <a:ext cx="833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25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【同一研究大类：比较维度或共同问题】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FE2A4-0E3B-4780-B3C5-CD9CAD68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553075"/>
            <a:ext cx="8610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C1734-D95F-4650-ADD0-748B6404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91175"/>
            <a:ext cx="8343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10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【同类方法的共同进展】，但在【明确条件】下仍有【具体局限】。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A8947-F4EC-4F51-A349-AD92FB8E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150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12/28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89AA6-CCC5-4A33-8F85-ED4D9E41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573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65D"/>
                </a:solidFill>
                <a:latin typeface="黑体"/>
                <a:ea typeface="黑体"/>
                <a:cs typeface="黑体"/>
              </a:defRPr>
            </a:pPr>
            <a:r>
              <a:rPr sz="2100" b="1">
                <a:solidFill>
                  <a:srgbClr val="17365D"/>
                </a:solidFill>
                <a:latin typeface="黑体"/>
                <a:ea typeface="黑体"/>
                <a:cs typeface="黑体"/>
              </a:rPr>
              <a:t>【代表工作1】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52B4A7-0C2A-4883-AB1A-0C155988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38325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【作者或单位】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63DAC4-DCA8-4AFA-9DE1-D2582597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65D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17365D"/>
                </a:solidFill>
                <a:latin typeface="黑体"/>
                <a:ea typeface="黑体"/>
                <a:cs typeface="黑体"/>
              </a:rPr>
              <a:t>【期刊/会议，年份】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DF953E-858C-4851-8CD6-08AA77A8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BB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FA529C-BCB0-47E9-BC9E-8497579A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7675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195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方法：【核心机制】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195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结果：【证据或效果】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07CC8F-EBF5-4F7D-AFF0-78DED2A9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573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65D"/>
                </a:solidFill>
                <a:latin typeface="黑体"/>
                <a:ea typeface="黑体"/>
                <a:cs typeface="黑体"/>
              </a:defRPr>
            </a:pPr>
            <a:r>
              <a:rPr sz="2100" b="1">
                <a:solidFill>
                  <a:srgbClr val="17365D"/>
                </a:solidFill>
                <a:latin typeface="黑体"/>
                <a:ea typeface="黑体"/>
                <a:cs typeface="黑体"/>
              </a:rPr>
              <a:t>【代表工作2】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6D04F1-60EA-4705-9F7E-8228DDE2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38325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【作者或单位】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07F225-D6BF-4336-B05D-4A9DEDD7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65D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17365D"/>
                </a:solidFill>
                <a:latin typeface="黑体"/>
                <a:ea typeface="黑体"/>
                <a:cs typeface="黑体"/>
              </a:rPr>
              <a:t>【期刊/会议，年份】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4D40F0-67D4-4783-829D-1BD87E11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6700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BB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12808A-29AE-4BE7-AFE6-2C97C493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195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方法：【核心机制】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195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结果：【证据或效果】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CB1758-81FD-42E7-9160-9B8D61B9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573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65D"/>
                </a:solidFill>
                <a:latin typeface="黑体"/>
                <a:ea typeface="黑体"/>
                <a:cs typeface="黑体"/>
              </a:defRPr>
            </a:pPr>
            <a:r>
              <a:rPr sz="2100" b="1">
                <a:solidFill>
                  <a:srgbClr val="17365D"/>
                </a:solidFill>
                <a:latin typeface="黑体"/>
                <a:ea typeface="黑体"/>
                <a:cs typeface="黑体"/>
              </a:rPr>
              <a:t>【代表工作3】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B102AF-5BC5-4A2D-871A-5EE79384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38325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【作者或单位】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DC30FA-702C-4958-A22C-7E6BA951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65D"/>
                </a:solidFill>
                <a:latin typeface="黑体"/>
                <a:ea typeface="黑体"/>
                <a:cs typeface="黑体"/>
              </a:defRPr>
            </a:pPr>
            <a:r>
              <a:rPr sz="1725" b="1">
                <a:solidFill>
                  <a:srgbClr val="17365D"/>
                </a:solidFill>
                <a:latin typeface="黑体"/>
                <a:ea typeface="黑体"/>
                <a:cs typeface="黑体"/>
              </a:rPr>
              <a:t>【期刊/会议，年份】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8E24FB-BFB5-440B-8227-895723AA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BB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B16BD9-5DE2-43EA-9288-669CBCE0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195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方法：【核心机制】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195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结果：【证据或效果】</a:t>
            </a:r>
          </a:p>
        </p:txBody>
      </p:sp>
    </p:spTree>
    <p:extLst>
      <p:ext uri="{BB962C8B-B14F-4D97-AF65-F5344CB8AC3E}">
        <p14:creationId xmlns:p14="http://schemas.microsoft.com/office/powerpoint/2010/main" val="19309216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CBEBC-1D88-4949-BE77-FD817D04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96C16-F63A-4356-A9CD-E6011D53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600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二、国内外研究现状及分析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CFF08-A064-4017-8E34-8B12002B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14400"/>
            <a:ext cx="628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24597-6848-46A9-A767-F2463CB0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1440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【代表方法对比与适用范围】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285750" y="1590675"/>
          <a:ext xmlns:a="http://schemas.openxmlformats.org/drawingml/2006/main" cx="85725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1714500"/>
                <a:gridCol w="1714500"/>
                <a:gridCol w="3000375"/>
              </a:tblGrid>
              <a:tr h="821531">
                <a:tc>
                  <a:txBody>
                    <a:bodyPr lIns="114300" tIns="66675" rIns="114300" bIns="66675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方法 / 来源</a:t>
                      </a:r>
                    </a:p>
                  </a:txBody>
                  <a:tcPr marL="91440" marR="91440" marT="45720" marB="45720" anchor="ctr">
                    <a:solidFill>
                      <a:srgbClr val="B9DDE1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输入信息</a:t>
                      </a:r>
                    </a:p>
                  </a:txBody>
                  <a:tcPr marL="91440" marR="91440" marT="45720" marB="45720" anchor="ctr">
                    <a:solidFill>
                      <a:srgbClr val="B9DDE1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输出结果</a:t>
                      </a:r>
                    </a:p>
                  </a:txBody>
                  <a:tcPr marL="91440" marR="91440" marT="45720" marB="45720" anchor="ctr">
                    <a:solidFill>
                      <a:srgbClr val="B9DDE1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适用范围 / 局限</a:t>
                      </a:r>
                    </a:p>
                  </a:txBody>
                  <a:tcPr marL="91440" marR="91440" marT="45720" marB="45720" anchor="ctr">
                    <a:solidFill>
                      <a:srgbClr val="B9DDE1"/>
                    </a:solidFill>
                  </a:tcPr>
                </a:tc>
              </a:tr>
              <a:tr h="821531">
                <a:tc>
                  <a:txBody>
                    <a:bodyPr lIns="114300" tIns="66675" rIns="114300" bIns="66675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【方法一】</a:t>
                      </a:r>
                    </a:p>
                  </a:txBody>
                  <a:tcPr marL="91440" marR="91440" marT="45720" marB="45720" anchor="ctr">
                    <a:solidFill>
                      <a:srgbClr val="E2F0F3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【使用什么】</a:t>
                      </a:r>
                    </a:p>
                  </a:txBody>
                  <a:tcPr marL="91440" marR="91440" marT="45720" marB="45720" anchor="ctr">
                    <a:solidFill>
                      <a:srgbClr val="E2F0F3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【获得什么】</a:t>
                      </a:r>
                    </a:p>
                  </a:txBody>
                  <a:tcPr marL="91440" marR="91440" marT="45720" marB="45720" anchor="ctr">
                    <a:solidFill>
                      <a:srgbClr val="E2F0F3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【条件或限制】</a:t>
                      </a:r>
                    </a:p>
                  </a:txBody>
                  <a:tcPr marL="91440" marR="91440" marT="45720" marB="45720" anchor="ctr">
                    <a:solidFill>
                      <a:srgbClr val="E2F0F3"/>
                    </a:solidFill>
                  </a:tcPr>
                </a:tc>
              </a:tr>
              <a:tr h="821531">
                <a:tc>
                  <a:txBody>
                    <a:bodyPr lIns="114300" tIns="66675" rIns="114300" bIns="66675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【方法二】</a:t>
                      </a:r>
                    </a:p>
                  </a:txBody>
                  <a:tcPr marL="91440" marR="91440" marT="45720" marB="45720" anchor="ctr">
                    <a:solidFill>
                      <a:srgbClr val="F1F7F8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【使用什么】</a:t>
                      </a:r>
                    </a:p>
                  </a:txBody>
                  <a:tcPr marL="91440" marR="91440" marT="45720" marB="45720" anchor="ctr">
                    <a:solidFill>
                      <a:srgbClr val="F1F7F8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【获得什么】</a:t>
                      </a:r>
                    </a:p>
                  </a:txBody>
                  <a:tcPr marL="91440" marR="91440" marT="45720" marB="45720" anchor="ctr">
                    <a:solidFill>
                      <a:srgbClr val="F1F7F8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【条件或限制】</a:t>
                      </a:r>
                    </a:p>
                  </a:txBody>
                  <a:tcPr marL="91440" marR="91440" marT="45720" marB="45720" anchor="ctr">
                    <a:solidFill>
                      <a:srgbClr val="F1F7F8"/>
                    </a:solidFill>
                  </a:tcPr>
                </a:tc>
              </a:tr>
              <a:tr h="821531">
                <a:tc>
                  <a:txBody>
                    <a:bodyPr lIns="114300" tIns="66675" rIns="114300" bIns="66675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【方法三】</a:t>
                      </a:r>
                    </a:p>
                  </a:txBody>
                  <a:tcPr marL="91440" marR="91440" marT="45720" marB="45720" anchor="ctr">
                    <a:solidFill>
                      <a:srgbClr val="E2F0F3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【使用什么】</a:t>
                      </a:r>
                    </a:p>
                  </a:txBody>
                  <a:tcPr marL="91440" marR="91440" marT="45720" marB="45720" anchor="ctr">
                    <a:solidFill>
                      <a:srgbClr val="E2F0F3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【获得什么】</a:t>
                      </a:r>
                    </a:p>
                  </a:txBody>
                  <a:tcPr marL="91440" marR="91440" marT="45720" marB="45720" anchor="ctr">
                    <a:solidFill>
                      <a:srgbClr val="E2F0F3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【条件或限制】</a:t>
                      </a:r>
                    </a:p>
                  </a:txBody>
                  <a:tcPr marL="91440" marR="91440" marT="45720" marB="45720" anchor="ctr">
                    <a:solidFill>
                      <a:srgbClr val="E2F0F3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FB479-B9F3-4F1C-8C4C-385F6CAB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48275"/>
            <a:ext cx="861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07E48-A184-48C2-806D-5C98B6CA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14950"/>
            <a:ext cx="830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【通过对比，概括本课题需要重点解决的问题】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9B7A4-A7E3-4606-BED6-E9F9961F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842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14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填写说明：统一比较维度；方法优劣、限制和数据须有来源。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6FCA0-8365-4189-8D15-DC4AAF53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6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13/28</a:t>
            </a:r>
          </a:p>
        </p:txBody>
      </p:sp>
    </p:spTree>
    <p:extLst>
      <p:ext uri="{BB962C8B-B14F-4D97-AF65-F5344CB8AC3E}">
        <p14:creationId xmlns:p14="http://schemas.microsoft.com/office/powerpoint/2010/main" val="14424967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AD7CA-3EF3-44C5-BB42-EE13D66A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761AD-D435-479C-99DD-EA0D48FA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600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二、国内外研究现状及分析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2C6BF-F6AE-4A92-897E-9603A892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715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C7972-DBC4-4A83-9E2A-287D5A62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7155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研究现状分析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BCACD-8AD0-4584-BEEF-1A00C885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95450"/>
            <a:ext cx="8286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（1）【已有研究主要解决了什么，但仍缺少什么】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67C6F-8948-4DD1-B592-2B71864A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95600"/>
            <a:ext cx="8286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（2）【现有方法在何种工况下存在什么局限】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B48C0-D56C-4761-8E1E-9C569F3F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95750"/>
            <a:ext cx="8286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（3）【针对上述不足，本课题需要研究什么问题】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CF1F0-AEA6-4E39-88AD-5520D129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53050"/>
            <a:ext cx="861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F6A75-88A0-4D83-9037-0F32D2CB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19725"/>
            <a:ext cx="830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【凝练本课题的研究切入点，与下一页研究任务衔接】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4812B-75F5-43D4-8516-6619A6EF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842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14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填写说明：用明确问题归纳文献，不逐篇重复前页内容。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13B11-CBB5-4018-9C11-C1C10F5C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6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14/28</a:t>
            </a:r>
          </a:p>
        </p:txBody>
      </p:sp>
    </p:spTree>
    <p:extLst>
      <p:ext uri="{BB962C8B-B14F-4D97-AF65-F5344CB8AC3E}">
        <p14:creationId xmlns:p14="http://schemas.microsoft.com/office/powerpoint/2010/main" val="20509098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475BB-7E5D-45D5-B079-CD67B561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C7126-B177-42C1-AEC7-27A710DF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225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二、国内外研究现状及分析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42A1B-8DC2-4789-A0A2-A3D7B272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953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6CD6F-25A1-4009-B419-CE821DC8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95350"/>
            <a:ext cx="833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25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【研究现状的综合分析】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FE2A4-0E3B-4780-B3C5-CD9CAD68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553075"/>
            <a:ext cx="8610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C1734-D95F-4650-ADD0-748B6404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91175"/>
            <a:ext cx="8343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10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由【有依据的研究缺口】，凝练出本研究的【核心问题】。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A8947-F4EC-4F51-A349-AD92FB8E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150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15/28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342900" y="1609725"/>
          <a:ext xmlns:a="http://schemas.openxmlformats.org/drawingml/2006/main" cx="845820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266950"/>
                <a:gridCol w="2305050"/>
                <a:gridCol w="2266950"/>
              </a:tblGrid>
              <a:tr h="90725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分析维度</a:t>
                      </a:r>
                    </a:p>
                  </a:txBody>
                  <a:tcPr marL="91440" marR="91440" marT="45720" marB="45720" anchor="ctr">
                    <a:solidFill>
                      <a:srgbClr val="BAD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已有进展</a:t>
                      </a:r>
                    </a:p>
                  </a:txBody>
                  <a:tcPr marL="91440" marR="91440" marT="45720" marB="45720" anchor="ctr">
                    <a:solidFill>
                      <a:srgbClr val="BAD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具体不足</a:t>
                      </a:r>
                    </a:p>
                  </a:txBody>
                  <a:tcPr marL="91440" marR="91440" marT="45720" marB="45720" anchor="ctr">
                    <a:solidFill>
                      <a:srgbClr val="BAD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待解决问题</a:t>
                      </a:r>
                    </a:p>
                  </a:txBody>
                  <a:tcPr marL="91440" marR="91440" marT="45720" marB="45720" anchor="ctr">
                    <a:solidFill>
                      <a:srgbClr val="BADDE3"/>
                    </a:solidFill>
                  </a:tcPr>
                </a:tc>
              </a:tr>
              <a:tr h="90725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对象/场景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【已覆盖的对象</a:t>
                      </a:r>
                    </a:p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与工况】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【尚未覆盖的</a:t>
                      </a:r>
                    </a:p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边界条件】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【对应研究</a:t>
                      </a:r>
                    </a:p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问题一】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</a:tr>
              <a:tr h="90725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信息/模型</a:t>
                      </a:r>
                    </a:p>
                  </a:txBody>
                  <a:tcPr marL="91440" marR="91440" marT="45720" marB="45720" anchor="ctr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【已有表征</a:t>
                      </a:r>
                    </a:p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与模型】</a:t>
                      </a:r>
                    </a:p>
                  </a:txBody>
                  <a:tcPr marL="91440" marR="91440" marT="45720" marB="45720" anchor="ctr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【尚不能解释</a:t>
                      </a:r>
                    </a:p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或感知的量】</a:t>
                      </a:r>
                    </a:p>
                  </a:txBody>
                  <a:tcPr marL="91440" marR="91440" marT="45720" marB="45720" anchor="ctr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【对应研究</a:t>
                      </a:r>
                    </a:p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问题二】</a:t>
                      </a:r>
                    </a:p>
                  </a:txBody>
                  <a:tcPr marL="91440" marR="91440" marT="45720" marB="45720" anchor="ctr">
                    <a:solidFill>
                      <a:srgbClr val="F4F8F9"/>
                    </a:solidFill>
                  </a:tcPr>
                </a:tc>
              </a:tr>
              <a:tr h="90725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方法/验证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【现有方法及</a:t>
                      </a:r>
                    </a:p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验证条件】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【可比证据</a:t>
                      </a:r>
                    </a:p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或验证不足】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【对应研究</a:t>
                      </a:r>
                    </a:p>
                    <a:p>
                      <a:r>
                        <a:rPr sz="195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问题三】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09216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3D03CA-B78D-4077-B6B1-918BA0AB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27FE3-6B23-4AC5-8245-816F1066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600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三、研究目标及研究内容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559BE-4877-4EA7-B778-F6A57C25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62025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DB80D-CFD3-4182-87BB-3310A095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62025"/>
            <a:ext cx="3752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研究目标与任务关系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8B347-4335-4237-B26D-6831D3B9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8362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研究目标：在【研究场景】下，实现【目标能力】。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A1C52-8CF8-45E4-AA41-57C48C82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000375"/>
            <a:ext cx="2514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2383">
            <a:solidFill>
              <a:srgbClr val="00009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1F246-8C4F-4120-993D-F99B7C3D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067050"/>
            <a:ext cx="2324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研究内容一</a:t>
            </a:r>
          </a:p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【模型方法】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55A79-565A-482E-B8E1-C6BAF16A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00375"/>
            <a:ext cx="2514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2383">
            <a:solidFill>
              <a:srgbClr val="00009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DA71F-BAF8-47B9-A227-7787097C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67050"/>
            <a:ext cx="2324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研究内容二</a:t>
            </a:r>
          </a:p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【算法方法】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22618-E845-48EC-B4C5-4CE15435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00375"/>
            <a:ext cx="2514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2383">
            <a:solidFill>
              <a:srgbClr val="00009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216B9-A630-49B3-811E-A760C853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67050"/>
            <a:ext cx="2324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研究内容三</a:t>
            </a:r>
          </a:p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【系统验证】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D572F-A18E-4978-B44A-930F942E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242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99"/>
          </a:solidFill>
          <a:ln xmlns:a="http://schemas.openxmlformats.org/drawingml/2006/main" w="9525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A38F6-6E61-465D-BB71-5FC7E942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62300" y="3476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10E57-2258-4365-8C62-CBFAC4A5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242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99"/>
          </a:solidFill>
          <a:ln xmlns:a="http://schemas.openxmlformats.org/drawingml/2006/main" w="9525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EB781-3C43-42DA-A749-3F52019A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43625" y="3476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9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5C950-E033-470A-B661-ED01E88C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295775"/>
            <a:ext cx="2514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【输出与支撑作用】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0D7F9E-D8F9-4539-953A-F808302A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95775"/>
            <a:ext cx="2514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【输出与支撑作用】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713EA5-E0F4-4238-8D86-F568E108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95775"/>
            <a:ext cx="2514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【评估与交付结果】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EF4982-9BA6-4118-92AE-670617A5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05425"/>
            <a:ext cx="861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0CFE39-1D8E-4101-A925-E5027BCB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72100"/>
            <a:ext cx="830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【说明三项研究内容如何共同实现总体目标】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05E6BB-7E6D-4EDF-84B0-BCA90B54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842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14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填写说明：任务数量根据课题确定；名称与后续方案保持一致。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40B235-E2F9-4C06-980C-6E23A2CA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6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16/28</a:t>
            </a:r>
          </a:p>
        </p:txBody>
      </p:sp>
    </p:spTree>
    <p:extLst>
      <p:ext uri="{BB962C8B-B14F-4D97-AF65-F5344CB8AC3E}">
        <p14:creationId xmlns:p14="http://schemas.microsoft.com/office/powerpoint/2010/main" val="4934211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475BB-7E5D-45D5-B079-CD67B561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C7126-B177-42C1-AEC7-27A710DF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225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三、研究目标及研究内容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42A1B-8DC2-4789-A0A2-A3D7B272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953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6CD6F-25A1-4009-B419-CE821DC8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95350"/>
            <a:ext cx="833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25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【总体目标与研究内容之间的关系】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FE2A4-0E3B-4780-B3C5-CD9CAD68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553075"/>
            <a:ext cx="8610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C1734-D95F-4650-ADD0-748B6404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91175"/>
            <a:ext cx="8343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10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【各项研究内容如何共同支撑总体目标】。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A8947-F4EC-4F51-A349-AD92FB8E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150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17/28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99241B-AF85-4430-8D88-90B0D6FC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8334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25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研究目标：在【工况与约束】下，实现【目标能力】。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342900" y="2524125"/>
          <a:ext xmlns:a="http://schemas.openxmlformats.org/drawingml/2006/main" cx="845820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114550"/>
                <a:gridCol w="2076450"/>
                <a:gridCol w="2076450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研究内容</a:t>
                      </a:r>
                    </a:p>
                  </a:txBody>
                  <a:tcPr marL="91440" marR="91440" marT="45720" marB="45720" anchor="ctr">
                    <a:solidFill>
                      <a:srgbClr val="BAD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输入或依赖</a:t>
                      </a:r>
                    </a:p>
                  </a:txBody>
                  <a:tcPr marL="91440" marR="91440" marT="45720" marB="45720" anchor="ctr">
                    <a:solidFill>
                      <a:srgbClr val="BAD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预期输出</a:t>
                      </a:r>
                    </a:p>
                  </a:txBody>
                  <a:tcPr marL="91440" marR="91440" marT="45720" marB="45720" anchor="ctr">
                    <a:solidFill>
                      <a:srgbClr val="BAD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验证依据</a:t>
                      </a:r>
                    </a:p>
                  </a:txBody>
                  <a:tcPr marL="91440" marR="91440" marT="45720" marB="45720" anchor="ctr">
                    <a:solidFill>
                      <a:srgbClr val="BADDE3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【研究内容一】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【数据/模型</a:t>
                      </a:r>
                    </a:p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及约束】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【方法/模型</a:t>
                      </a:r>
                    </a:p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或参数】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【对应指标</a:t>
                      </a:r>
                    </a:p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或验证任务】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【研究内容二】</a:t>
                      </a:r>
                    </a:p>
                  </a:txBody>
                  <a:tcPr marL="91440" marR="91440" marT="45720" marB="45720" anchor="ctr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【所需信息</a:t>
                      </a:r>
                    </a:p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及前项产出】</a:t>
                      </a:r>
                    </a:p>
                  </a:txBody>
                  <a:tcPr marL="91440" marR="91440" marT="45720" marB="45720" anchor="ctr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【算法/策略</a:t>
                      </a:r>
                    </a:p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或系统】</a:t>
                      </a:r>
                    </a:p>
                  </a:txBody>
                  <a:tcPr marL="91440" marR="91440" marT="45720" marB="45720" anchor="ctr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【对应指标</a:t>
                      </a:r>
                    </a:p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或验证任务】</a:t>
                      </a:r>
                    </a:p>
                  </a:txBody>
                  <a:tcPr marL="91440" marR="91440" marT="45720" marB="45720" anchor="ctr">
                    <a:solidFill>
                      <a:srgbClr val="F4F8F9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【研究内容三】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【待验证的</a:t>
                      </a:r>
                    </a:p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方法与系统】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【对比结果</a:t>
                      </a:r>
                    </a:p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及适用范围】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【对应指标</a:t>
                      </a:r>
                    </a:p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或验证任务】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09216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4A2C1C-579A-4C8A-8527-17DAFAF2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4737A-7684-445F-B3FE-0D6F0327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600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四、研究方案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06856-FA70-4599-A509-272E4800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8553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28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4.1  【研究内容一对应的方案名称】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7EEAD-046E-4FFC-B514-9A6791C8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704975"/>
            <a:ext cx="842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（1）【子任务一：输入、条件或模型分析】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D67BF-13E0-4F71-9859-68D95021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247900"/>
            <a:ext cx="842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（2）【子任务二：核心方法与实现过程】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A2FE7-5777-4234-BC6E-505B0FAC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790825"/>
            <a:ext cx="842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（3）【子任务三：结果输出与验证方法】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3D37D-958F-4EF5-B9DC-FF3D5A63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10025"/>
            <a:ext cx="1847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2383">
            <a:solidFill>
              <a:srgbClr val="00009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BC4EF-31F3-4DE4-B93B-E35B553D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7670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【输入变量】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303E6-DEFA-4389-8225-B096A27E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010025"/>
            <a:ext cx="1847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2383">
            <a:solidFill>
              <a:srgbClr val="00009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B0D07-486C-4CAB-8B35-9D8ED6B4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07670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【模型参数】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76F99-3765-4879-B8C2-5DEF0874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010025"/>
            <a:ext cx="1847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2383">
            <a:solidFill>
              <a:srgbClr val="00009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919D2-A626-4886-8127-87C61325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7670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【求解计算】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E956D-AC2E-4952-AD04-EBE39E93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010025"/>
            <a:ext cx="1847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2383">
            <a:solidFill>
              <a:srgbClr val="00009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BA670-9570-4622-AE4C-F1F3E99B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07670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【输出验证】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8584FD-8787-4AB2-BFCE-10DB4F46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19600"/>
            <a:ext cx="219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99"/>
          </a:solidFill>
          <a:ln xmlns:a="http://schemas.openxmlformats.org/drawingml/2006/main" w="9525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F873AA-8367-48CC-91FB-DE5AB060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409825" y="4371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9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0B339-42FB-4CED-9496-CE4A2F91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19600"/>
            <a:ext cx="219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99"/>
          </a:solidFill>
          <a:ln xmlns:a="http://schemas.openxmlformats.org/drawingml/2006/main" w="9525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473E5B-5CD0-42ED-9287-32BA341E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638675" y="4371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9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1B5E31-8087-4566-8E37-FEE77BDC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419600"/>
            <a:ext cx="219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99"/>
          </a:solidFill>
          <a:ln xmlns:a="http://schemas.openxmlformats.org/drawingml/2006/main" w="9525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C651ED-CE2F-4674-9A1A-E23EBE89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67525" y="4371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9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B308CF-28BF-498D-A8C9-4BCE8FC5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286375"/>
            <a:ext cx="84010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22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【在此补充必要的模型示意、公式或流程分支】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CE334D-1B16-4E89-B973-C8FB63E6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842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14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填写说明：保留任务分点与技术路线；按实际方法扩展框图。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D22D9E-9DBC-4662-A44F-827EBA73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6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18/28</a:t>
            </a:r>
          </a:p>
        </p:txBody>
      </p:sp>
    </p:spTree>
    <p:extLst>
      <p:ext uri="{BB962C8B-B14F-4D97-AF65-F5344CB8AC3E}">
        <p14:creationId xmlns:p14="http://schemas.microsoft.com/office/powerpoint/2010/main" val="9945171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DDF28E-D8F2-448E-A0A9-19FAA1F5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6DD84-699D-45C4-8813-0691C24D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600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四、研究方案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CAEA9-DE74-4E4F-8B10-ED02265B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8553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28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4.2  【研究内容二对应的方案名称】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7D334-A1EE-49B0-81EF-858CED27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704975"/>
            <a:ext cx="842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（1）【子任务一：输入、条件或模型分析】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852C0-D00F-4355-9288-4A95F28A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247900"/>
            <a:ext cx="842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（2）【子任务二：核心方法与实现过程】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59029-D165-4939-AF1E-DF7F8315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790825"/>
            <a:ext cx="842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（3）【子任务三：结果输出与验证方法】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590F0-F38B-4FF8-8158-717AC60D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10025"/>
            <a:ext cx="1847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2383">
            <a:solidFill>
              <a:srgbClr val="00009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44B92-EB45-45B5-AC1A-F36E1616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7670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【数据状态】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06C22-3651-4582-B3B2-B2AC85B6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010025"/>
            <a:ext cx="1847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2383">
            <a:solidFill>
              <a:srgbClr val="00009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8AD55-F868-40E6-900B-E67CD63B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07670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【算法策略】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ADCDD-EB45-4080-9576-E87E0E05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010025"/>
            <a:ext cx="1847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2383">
            <a:solidFill>
              <a:srgbClr val="00009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1CC0E-5128-4D18-A4C1-2FA80017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7670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【训练优化】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B27C4-C187-4990-BC4D-CF868BF8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010025"/>
            <a:ext cx="1847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2383">
            <a:solidFill>
              <a:srgbClr val="00009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3A78DB-E272-48D1-91AC-FE0F3663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07670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【输出测试】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FAA39-4D9C-486B-900F-3834B3C1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19600"/>
            <a:ext cx="219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99"/>
          </a:solidFill>
          <a:ln xmlns:a="http://schemas.openxmlformats.org/drawingml/2006/main" w="9525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BA738-B31E-43E9-8B7E-18421E8C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409825" y="4371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9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89EB4F-C4EC-46D7-BEB8-146F208A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19600"/>
            <a:ext cx="219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99"/>
          </a:solidFill>
          <a:ln xmlns:a="http://schemas.openxmlformats.org/drawingml/2006/main" w="9525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04ADD3-7A4D-4242-9571-90269F0C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638675" y="4371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9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8DC33C-4E64-4DFB-BB34-1C43879D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419600"/>
            <a:ext cx="219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99"/>
          </a:solidFill>
          <a:ln xmlns:a="http://schemas.openxmlformats.org/drawingml/2006/main" w="9525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169103-45F3-4451-A428-2A7461B0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67525" y="4371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9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46D4D7-1EFA-412F-99B9-39E682F0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286375"/>
            <a:ext cx="84010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22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【在此补充必要的模型示意、公式或流程分支】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D537FF-D555-4EE5-BED3-CECDABD3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842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14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填写说明：保留任务分点与技术路线；按实际方法扩展框图。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CDD5A9-929A-439E-A678-223F12C5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6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19/28</a:t>
            </a:r>
          </a:p>
        </p:txBody>
      </p:sp>
    </p:spTree>
    <p:extLst>
      <p:ext uri="{BB962C8B-B14F-4D97-AF65-F5344CB8AC3E}">
        <p14:creationId xmlns:p14="http://schemas.microsoft.com/office/powerpoint/2010/main" val="7085591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B5F143-446C-466E-A6C9-7421BDA8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6A5FA-53BC-48EF-983F-3D53C03B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600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四、研究方案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97DA1-ABB3-49BD-93A6-5F41A8AD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8553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28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4.3  【研究内容三对应的方案名称】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F1C40-FD25-40B7-B730-76469B79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704975"/>
            <a:ext cx="842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（1）【子任务一：输入、条件或模型分析】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8600E-F8AB-40DC-9F50-994447A6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247900"/>
            <a:ext cx="842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（2）【子任务二：核心方法与实现过程】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310D7-6C23-46C9-844C-3CD2F8D1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790825"/>
            <a:ext cx="842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（3）【子任务三：结果输出与验证方法】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72D39-EBC7-4461-A73A-65F07E08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10025"/>
            <a:ext cx="1847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2383">
            <a:solidFill>
              <a:srgbClr val="00009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B2CEF-BCB8-4797-8509-4ACE263F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7670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【测试场景】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DA93C-9DFA-4414-8F61-0935B348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010025"/>
            <a:ext cx="1847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2383">
            <a:solidFill>
              <a:srgbClr val="00009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19568-F2C3-4069-B2E1-5C00F45A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07670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【对比方法】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FDC7F-E72E-4B14-BEF8-D3433373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010025"/>
            <a:ext cx="1847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2383">
            <a:solidFill>
              <a:srgbClr val="00009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9EC2F-F4C6-4FC7-8E2B-4CD06296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7670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【评价指标】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273C8-A815-42A2-B01F-DB4495D0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010025"/>
            <a:ext cx="1847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5"/>
          </a:solidFill>
          <a:ln xmlns:a="http://schemas.openxmlformats.org/drawingml/2006/main" w="12383">
            <a:solidFill>
              <a:srgbClr val="00009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E73F8-1166-49F4-B425-51B25F90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07670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0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【结果分析】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0654F-F584-4550-8E63-C976928C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19600"/>
            <a:ext cx="219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99"/>
          </a:solidFill>
          <a:ln xmlns:a="http://schemas.openxmlformats.org/drawingml/2006/main" w="9525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FBC521-0A66-47B6-9257-0AF770C8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409825" y="4371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9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1D7225-906A-4493-9AFE-20E10CF7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19600"/>
            <a:ext cx="219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99"/>
          </a:solidFill>
          <a:ln xmlns:a="http://schemas.openxmlformats.org/drawingml/2006/main" w="9525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D59B1E-4996-49BD-8B6B-660B9A5D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638675" y="4371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9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08DE69-4C3B-4532-B9EB-EFD79D3A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419600"/>
            <a:ext cx="219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99"/>
          </a:solidFill>
          <a:ln xmlns:a="http://schemas.openxmlformats.org/drawingml/2006/main" w="9525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FA2BAE-8B55-474E-98CC-6909568F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67525" y="4371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9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A25721-61FF-43D6-9504-8CF96C63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286375"/>
            <a:ext cx="84010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22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【在此补充必要的模型示意、公式或流程分支】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9065C3-5906-44A8-92EE-99A5AA92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842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14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填写说明：保留任务分点与技术路线；按实际方法扩展框图。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1CAC6E-A606-4BB5-B857-B2A6ED84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6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20/28</a:t>
            </a:r>
          </a:p>
        </p:txBody>
      </p:sp>
    </p:spTree>
    <p:extLst>
      <p:ext uri="{BB962C8B-B14F-4D97-AF65-F5344CB8AC3E}">
        <p14:creationId xmlns:p14="http://schemas.microsoft.com/office/powerpoint/2010/main" val="5206392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475BB-7E5D-45D5-B079-CD67B561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C7126-B177-42C1-AEC7-27A710DF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225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四、研究方案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42A1B-8DC2-4789-A0A2-A3D7B272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953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6CD6F-25A1-4009-B419-CE821DC8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95350"/>
            <a:ext cx="833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25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4.x  【与研究内容对应的方案名称】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A8947-F4EC-4F51-A349-AD92FB8E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150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21/28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9F8AD-5679-4954-99D7-AD2AA43E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638300"/>
            <a:ext cx="314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175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（1）输入与条件分析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175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【工况、模型、数据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175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及关键约束】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8368F2-3DD0-4101-9F1D-D78FE6B2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143250"/>
            <a:ext cx="314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175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（2）核心方法与实现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175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【具体方法、处理过程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175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及关键中间量】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CF0BDA-96CE-4A93-AC0E-200E98D9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648200"/>
            <a:ext cx="314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175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（3）结果输出与验证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175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【输出、对照方法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175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及评价指标】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A79514-B0AF-4956-9AEC-344F9ACA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09725"/>
            <a:ext cx="50768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BB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44C1BC-8BEC-4D3D-A669-F4E86A2E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362575"/>
            <a:ext cx="5048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7365D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17365D"/>
                </a:solidFill>
                <a:latin typeface="黑体"/>
                <a:ea typeface="黑体"/>
                <a:cs typeface="黑体"/>
              </a:rPr>
              <a:t>【用户提供的技术路线、模型或实验方案图】</a:t>
            </a:r>
          </a:p>
        </p:txBody>
      </p:sp>
    </p:spTree>
    <p:extLst>
      <p:ext uri="{BB962C8B-B14F-4D97-AF65-F5344CB8AC3E}">
        <p14:creationId xmlns:p14="http://schemas.microsoft.com/office/powerpoint/2010/main" val="193092165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4FAA4-6A58-4551-933E-5D3003CF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F61AB-7FED-466B-A63E-3296BEBC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600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五、进度安排与预期成果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52425" y="1152525"/>
          <a:ext xmlns:a="http://schemas.openxmlformats.org/drawingml/2006/main" cx="8439150" cy="4514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05025"/>
                <a:gridCol w="6334125"/>
              </a:tblGrid>
              <a:tr h="752475">
                <a:tc>
                  <a:txBody>
                    <a:bodyPr lIns="114300" tIns="66675" rIns="114300" bIns="66675"/>
                    <a:lstStyle/>
                    <a:p>
                      <a:r>
                        <a:rPr sz="2000" b="1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时间区间</a:t>
                      </a:r>
                    </a:p>
                  </a:txBody>
                  <a:tcPr marL="91440" marR="91440" marT="45720" marB="45720" anchor="ctr">
                    <a:solidFill>
                      <a:srgbClr val="B9DDE1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r>
                        <a:rPr sz="2000" b="1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阶段任务及预期成果</a:t>
                      </a:r>
                    </a:p>
                  </a:txBody>
                  <a:tcPr marL="91440" marR="91440" marT="45720" marB="45720" anchor="ctr">
                    <a:solidFill>
                      <a:srgbClr val="B9DDE1"/>
                    </a:solidFill>
                  </a:tcPr>
                </a:tc>
              </a:tr>
              <a:tr h="752475">
                <a:tc>
                  <a:txBody>
                    <a:bodyPr lIns="114300" tIns="66675" rIns="114300" bIns="66675"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【起止年月】</a:t>
                      </a:r>
                    </a:p>
                  </a:txBody>
                  <a:tcPr marL="91440" marR="91440" marT="45720" marB="45720" anchor="ctr">
                    <a:solidFill>
                      <a:srgbClr val="E2F0F3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文献调研、方案设计；完成开题报告。</a:t>
                      </a:r>
                    </a:p>
                  </a:txBody>
                  <a:tcPr marL="91440" marR="91440" marT="45720" marB="45720" anchor="ctr">
                    <a:solidFill>
                      <a:srgbClr val="E2F0F3"/>
                    </a:solidFill>
                  </a:tcPr>
                </a:tc>
              </a:tr>
              <a:tr h="752475">
                <a:tc>
                  <a:txBody>
                    <a:bodyPr lIns="114300" tIns="66675" rIns="114300" bIns="66675"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【起止年月】</a:t>
                      </a:r>
                    </a:p>
                  </a:txBody>
                  <a:tcPr marL="91440" marR="91440" marT="45720" marB="45720" anchor="ctr">
                    <a:solidFill>
                      <a:srgbClr val="F1F7F8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研究内容一；形成【模型 / 方法 / 程序】。</a:t>
                      </a:r>
                    </a:p>
                  </a:txBody>
                  <a:tcPr marL="91440" marR="91440" marT="45720" marB="45720" anchor="ctr">
                    <a:solidFill>
                      <a:srgbClr val="F1F7F8"/>
                    </a:solidFill>
                  </a:tcPr>
                </a:tc>
              </a:tr>
              <a:tr h="752475">
                <a:tc>
                  <a:txBody>
                    <a:bodyPr lIns="114300" tIns="66675" rIns="114300" bIns="66675"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【起止年月】</a:t>
                      </a:r>
                    </a:p>
                  </a:txBody>
                  <a:tcPr marL="91440" marR="91440" marT="45720" marB="45720" anchor="ctr">
                    <a:solidFill>
                      <a:srgbClr val="E2F0F3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研究内容二；完成【算法 / 训练 / 分析】。</a:t>
                      </a:r>
                    </a:p>
                  </a:txBody>
                  <a:tcPr marL="91440" marR="91440" marT="45720" marB="45720" anchor="ctr">
                    <a:solidFill>
                      <a:srgbClr val="E2F0F3"/>
                    </a:solidFill>
                  </a:tcPr>
                </a:tc>
              </a:tr>
              <a:tr h="752475">
                <a:tc>
                  <a:txBody>
                    <a:bodyPr lIns="114300" tIns="66675" rIns="114300" bIns="66675"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【起止年月】</a:t>
                      </a:r>
                    </a:p>
                  </a:txBody>
                  <a:tcPr marL="91440" marR="91440" marT="45720" marB="45720" anchor="ctr">
                    <a:solidFill>
                      <a:srgbClr val="F1F7F8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研究内容三；完成【验证 / 对比 / 消融】。</a:t>
                      </a:r>
                    </a:p>
                  </a:txBody>
                  <a:tcPr marL="91440" marR="91440" marT="45720" marB="45720" anchor="ctr">
                    <a:solidFill>
                      <a:srgbClr val="F1F7F8"/>
                    </a:solidFill>
                  </a:tcPr>
                </a:tc>
              </a:tr>
              <a:tr h="752475">
                <a:tc>
                  <a:txBody>
                    <a:bodyPr lIns="114300" tIns="66675" rIns="114300" bIns="66675"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【起止年月】</a:t>
                      </a:r>
                    </a:p>
                  </a:txBody>
                  <a:tcPr marL="91440" marR="91440" marT="45720" marB="45720" anchor="ctr">
                    <a:solidFill>
                      <a:srgbClr val="E2F0F3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  <a:latin typeface="黑体"/>
                          <a:ea typeface="黑体"/>
                          <a:cs typeface="黑体"/>
                        </a:rPr>
                        <a:t>整理研究结果；完成论文与毕业答辩。</a:t>
                      </a:r>
                    </a:p>
                  </a:txBody>
                  <a:tcPr marL="91440" marR="91440" marT="45720" marB="45720" anchor="ctr">
                    <a:solidFill>
                      <a:srgbClr val="E2F0F3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134F0-ED01-42FD-8BEC-9E39ED59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842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14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填写说明：每阶段同时写任务与产出；按实际研究进度修改。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77820-1167-45CD-AB1C-2F328AC8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6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22/28</a:t>
            </a:r>
          </a:p>
        </p:txBody>
      </p:sp>
    </p:spTree>
    <p:extLst>
      <p:ext uri="{BB962C8B-B14F-4D97-AF65-F5344CB8AC3E}">
        <p14:creationId xmlns:p14="http://schemas.microsoft.com/office/powerpoint/2010/main" val="29651912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8A356-A1EB-47CE-ABF3-9DCEE12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6C5B8-CF21-4DD5-850A-99EC21B1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600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六、研究基础及经费预算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7697D-011B-410B-B1D7-FC7EC3ED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906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B6917-2C34-4CA2-B0EA-BCA48F25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90600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研究基础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EEC7A-A7E4-4A7A-8212-B527BD5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8267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3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（1）【知识与技能：相关理论、工具和研究经验】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3121E-C127-4ECE-B3F9-D0280B3D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47925"/>
            <a:ext cx="8267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3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（2）【已有工作：模型、代码、数据或初步结果】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C6BA9-C022-4F9C-A441-12946532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19450"/>
            <a:ext cx="8267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3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（3）【软硬件条件：平台、设备及实验环境】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22AE3-BD3C-491E-BAF3-8FFB296F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200525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ED6C2-EBCB-41A0-9BDB-8D255C1A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00525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经费预算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47B393-A6C4-4CFC-83B8-0272D8C4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876800"/>
            <a:ext cx="828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【列出已有保障、所需经费及来源；无新增支出时据实说明】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C8BE0-42C8-4366-9587-A2EDC092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842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14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填写说明：用真实条件证明可行性；必要时另增已完成工作页。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B0C8B-2082-4D2B-954D-B0CD4038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6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23/28</a:t>
            </a:r>
          </a:p>
        </p:txBody>
      </p:sp>
    </p:spTree>
    <p:extLst>
      <p:ext uri="{BB962C8B-B14F-4D97-AF65-F5344CB8AC3E}">
        <p14:creationId xmlns:p14="http://schemas.microsoft.com/office/powerpoint/2010/main" val="19102518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475BB-7E5D-45D5-B079-CD67B561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C7126-B177-42C1-AEC7-27A710DF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225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六、研究基础及经费预算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42A1B-8DC2-4789-A0A2-A3D7B272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953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6CD6F-25A1-4009-B419-CE821DC8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95350"/>
            <a:ext cx="833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25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【已完成工作：方法与对照证据】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FE2A4-0E3B-4780-B3C5-CD9CAD68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553075"/>
            <a:ext cx="8610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C1734-D95F-4650-ADD0-748B6404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91175"/>
            <a:ext cx="8343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10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在【已验证条件】下，【数据支持的结论及适用范围】。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A8947-F4EC-4F51-A349-AD92FB8E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150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24/28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56B40E-599B-4DCB-A6E9-A6CFE87F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33525"/>
            <a:ext cx="4038600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BB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35B17-DD28-4010-8A79-56A86BAA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533525"/>
            <a:ext cx="4038600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BB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A59894-3161-4418-8EAC-E673A932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24275"/>
            <a:ext cx="403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7365D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17365D"/>
                </a:solidFill>
                <a:latin typeface="黑体"/>
                <a:ea typeface="黑体"/>
                <a:cs typeface="黑体"/>
              </a:rPr>
              <a:t>【模型、方法或实验设置】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CC9032-BB42-47D9-B792-42766B75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24275"/>
            <a:ext cx="403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7365D"/>
                </a:solidFill>
                <a:latin typeface="黑体"/>
                <a:ea typeface="黑体"/>
                <a:cs typeface="黑体"/>
              </a:defRPr>
            </a:pPr>
            <a:r>
              <a:rPr sz="1875" b="0">
                <a:solidFill>
                  <a:srgbClr val="17365D"/>
                </a:solidFill>
                <a:latin typeface="黑体"/>
                <a:ea typeface="黑体"/>
                <a:cs typeface="黑体"/>
              </a:rPr>
              <a:t>【处理结果或对照曲线】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381000" y="4171950"/>
          <a:ext xmlns:a="http://schemas.openxmlformats.org/drawingml/2006/main" cx="8382000" cy="114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9350"/>
                <a:gridCol w="2438400"/>
                <a:gridCol w="3524250"/>
              </a:tblGrid>
              <a:tr h="381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对照条件</a:t>
                      </a:r>
                    </a:p>
                  </a:txBody>
                  <a:tcPr marL="91440" marR="91440" marT="45720" marB="45720" anchor="ctr">
                    <a:solidFill>
                      <a:srgbClr val="BAD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评价指标</a:t>
                      </a:r>
                    </a:p>
                  </a:txBody>
                  <a:tcPr marL="91440" marR="91440" marT="45720" marB="45720" anchor="ctr">
                    <a:solidFill>
                      <a:srgbClr val="BAD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结果与边界</a:t>
                      </a:r>
                    </a:p>
                  </a:txBody>
                  <a:tcPr marL="91440" marR="91440" marT="45720" marB="45720" anchor="ctr">
                    <a:solidFill>
                      <a:srgbClr val="BADDE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【工况及基线】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【指标与单位】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【已有结果，不填预期值】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【共同条件或变量】</a:t>
                      </a:r>
                    </a:p>
                  </a:txBody>
                  <a:tcPr marL="91440" marR="91440" marT="45720" marB="45720" anchor="ctr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【比较口径】</a:t>
                      </a:r>
                    </a:p>
                  </a:txBody>
                  <a:tcPr marL="91440" marR="91440" marT="45720" marB="45720" anchor="ctr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【适用范围或当前限制】</a:t>
                      </a:r>
                    </a:p>
                  </a:txBody>
                  <a:tcPr marL="91440" marR="91440" marT="45720" marB="45720" anchor="ctr">
                    <a:solidFill>
                      <a:srgbClr val="F4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092165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FA528-A11C-45B5-A543-68425727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7F113-DE96-4223-8436-A9C2BF17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600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七、可能遇到的困难及解决措施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D6C26-3FA0-4C90-8F5D-C6651378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6ADDD-4AFE-4691-A322-BD12E865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81075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可能遇到的困难及问题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C325B-6966-49FE-8921-B830DE94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82010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（1）【困难一：具体技术或数据问题】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70473-01DF-45F3-9150-45A0B2EC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86025"/>
            <a:ext cx="82010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（2）【困难二：实现或验证中的具体问题】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70672-551F-4170-8E98-36553ED5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733800"/>
            <a:ext cx="3286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4B666-07B2-472D-9D9C-585EFD08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33800"/>
            <a:ext cx="3133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解决方案及途径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C737A-BB4D-4BEA-AB2D-3D486003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82010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（1）【对应困难一的解决路径或备选方法】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D170B-9FBB-4388-9D6A-5AA52CF8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48275"/>
            <a:ext cx="82010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（2）【对应困难二的解决路径或备选方法】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1C68E-D27C-4D4C-AD98-701452AE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842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666666"/>
                </a:solidFill>
                <a:latin typeface="黑体"/>
                <a:ea typeface="黑体"/>
                <a:cs typeface="黑体"/>
              </a:defRPr>
            </a:pPr>
            <a:r>
              <a:rPr sz="1400" b="0">
                <a:solidFill>
                  <a:srgbClr val="666666"/>
                </a:solidFill>
                <a:latin typeface="黑体"/>
                <a:ea typeface="黑体"/>
                <a:cs typeface="黑体"/>
              </a:rPr>
              <a:t>填写说明：问题与措施逐条对应，避免笼统表态。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FCBB9-E32F-4C86-85DE-96175EF6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6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25/28</a:t>
            </a:r>
          </a:p>
        </p:txBody>
      </p:sp>
    </p:spTree>
    <p:extLst>
      <p:ext uri="{BB962C8B-B14F-4D97-AF65-F5344CB8AC3E}">
        <p14:creationId xmlns:p14="http://schemas.microsoft.com/office/powerpoint/2010/main" val="109933369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475BB-7E5D-45D5-B079-CD67B561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C7126-B177-42C1-AEC7-27A710DF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225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七、可能遇到的困难及解决措施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42A1B-8DC2-4789-A0A2-A3D7B272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953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6CD6F-25A1-4009-B419-CE821DC8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95350"/>
            <a:ext cx="833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25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【具体困难与针对性解决措施】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FE2A4-0E3B-4780-B3C5-CD9CAD68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553075"/>
            <a:ext cx="8610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00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C1734-D95F-4650-ADD0-748B6404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91175"/>
            <a:ext cx="8343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210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优先解决【关键风险】，保障【对应研究任务】的推进。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A8947-F4EC-4F51-A349-AD92FB8E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111111"/>
                </a:solidFill>
                <a:latin typeface="黑体"/>
                <a:ea typeface="黑体"/>
                <a:cs typeface="黑体"/>
              </a:defRPr>
            </a:pPr>
            <a:r>
              <a:rPr sz="1500" b="0">
                <a:solidFill>
                  <a:srgbClr val="111111"/>
                </a:solidFill>
                <a:latin typeface="黑体"/>
                <a:ea typeface="黑体"/>
                <a:cs typeface="黑体"/>
              </a:rPr>
              <a:t>26/28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342900" y="1628775"/>
          <a:ext xmlns:a="http://schemas.openxmlformats.org/drawingml/2006/main" cx="84582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24150"/>
                <a:gridCol w="2628900"/>
                <a:gridCol w="3105150"/>
              </a:tblGrid>
              <a:tr h="88106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具体困难</a:t>
                      </a:r>
                    </a:p>
                  </a:txBody>
                  <a:tcPr marL="91440" marR="91440" marT="45720" marB="45720" anchor="ctr">
                    <a:solidFill>
                      <a:srgbClr val="BAD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影响的任务或结果</a:t>
                      </a:r>
                    </a:p>
                  </a:txBody>
                  <a:tcPr marL="91440" marR="91440" marT="45720" marB="45720" anchor="ctr">
                    <a:solidFill>
                      <a:srgbClr val="BAD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针对性措施</a:t>
                      </a:r>
                    </a:p>
                  </a:txBody>
                  <a:tcPr marL="91440" marR="91440" marT="45720" marB="45720" anchor="ctr">
                    <a:solidFill>
                      <a:srgbClr val="BADDE3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（1）【建模困难】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【影响什么计算</a:t>
                      </a:r>
                    </a:p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或性能判断】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【解决途径及</a:t>
                      </a:r>
                    </a:p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可检查的结果】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（2）【实现困难】</a:t>
                      </a:r>
                    </a:p>
                  </a:txBody>
                  <a:tcPr marL="91440" marR="91440" marT="45720" marB="45720" anchor="ctr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【影响什么接口</a:t>
                      </a:r>
                    </a:p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或实验环节】</a:t>
                      </a:r>
                    </a:p>
                  </a:txBody>
                  <a:tcPr marL="91440" marR="91440" marT="45720" marB="45720" anchor="ctr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【解决途径及</a:t>
                      </a:r>
                    </a:p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可检查的结果】</a:t>
                      </a:r>
                    </a:p>
                  </a:txBody>
                  <a:tcPr marL="91440" marR="91440" marT="45720" marB="45720" anchor="ctr">
                    <a:solidFill>
                      <a:srgbClr val="F4F8F9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（3）【其他风险】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【具体影响】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黑体"/>
                          <a:ea typeface="黑体"/>
                          <a:cs typeface="黑体"/>
                        </a:rPr>
                        <a:t>【与该风险对应的措施】</a:t>
                      </a:r>
                    </a:p>
                  </a:txBody>
                  <a:tcPr marL="91440" marR="91440" marT="45720" marB="45720" anchor="ctr">
                    <a:solidFill>
                      <a:srgbClr val="E3EF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092165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281AAF-1707-4A55-8880-11F76973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FC6"/>
          </a:solidFill>
          <a:ln xmlns:a="http://schemas.openxmlformats.org/drawingml/2006/main" w="9525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B747E-F53F-4354-8B11-D02568B1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FFFFFF"/>
                </a:solidFill>
                <a:latin typeface="黑体"/>
                <a:ea typeface="黑体"/>
                <a:cs typeface="黑体"/>
              </a:defRPr>
            </a:pPr>
            <a:r>
              <a:rPr sz="3600" b="0">
                <a:solidFill>
                  <a:srgbClr val="FFFFFF"/>
                </a:solidFill>
                <a:latin typeface="黑体"/>
                <a:ea typeface="黑体"/>
                <a:cs typeface="黑体"/>
              </a:rPr>
              <a:t>交付前检查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8175F-6029-41A8-BA7A-5EB4993F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62025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63C30-A498-41ED-9C07-5FBAC261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62025"/>
            <a:ext cx="394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4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制作完成后逐项核对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6359D-6112-4064-BE3C-A9AC5DDD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533525"/>
            <a:ext cx="8515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2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（1）内容：姓名、导师、题目、日期与当前材料一致。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86D73-2024-42D4-8507-0506C004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47900"/>
            <a:ext cx="8515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2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（2）结构：现状不足、研究任务和方案逐项对应。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44018-60B9-44F6-9085-FD60E494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962275"/>
            <a:ext cx="8515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2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（3）证据：文献、图片、数据与已有成果来源清楚。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9E8A2-BA7B-4C27-A04A-86677B01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676650"/>
            <a:ext cx="8515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2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（4）版式：4∶3、标题栏、字体、框线及页码统一。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D2D22-BEC0-4058-9560-F7D62182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391025"/>
            <a:ext cx="8515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2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（5）清理：删除说明页，替换全部占位文字和示意图。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2090A-6B27-40A5-89D8-16839209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105400"/>
            <a:ext cx="8515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22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（6）检查：无乱码、溢出、遮挡及被拉伸的图片。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7E15A-FF09-4B46-B1A8-FDC2A3F1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11505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99"/>
                </a:solidFill>
                <a:latin typeface="黑体"/>
                <a:ea typeface="黑体"/>
                <a:cs typeface="黑体"/>
              </a:defRPr>
            </a:pPr>
            <a:r>
              <a:rPr sz="1800" b="0">
                <a:solidFill>
                  <a:srgbClr val="000099"/>
                </a:solidFill>
                <a:latin typeface="黑体"/>
                <a:ea typeface="黑体"/>
                <a:cs typeface="黑体"/>
              </a:rPr>
              <a:t>发送本模板时，附上：“请读取每页说明和备注，严格按模板制作。”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BD20E-BFCE-477E-A6CE-DF374DFF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6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27/28</a:t>
            </a:r>
          </a:p>
        </p:txBody>
      </p:sp>
    </p:spTree>
    <p:extLst>
      <p:ext uri="{BB962C8B-B14F-4D97-AF65-F5344CB8AC3E}">
        <p14:creationId xmlns:p14="http://schemas.microsoft.com/office/powerpoint/2010/main" val="206420742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60BFE-4E98-4D99-93F8-058B8E36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38350"/>
            <a:ext cx="79057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66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恳请各位老师</a:t>
            </a:r>
          </a:p>
          <a:p xmlns:a="http://schemas.openxmlformats.org/drawingml/2006/main">
            <a:pPr algn="ctr">
              <a:buNone/>
              <a:defRPr sz="66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66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提出宝贵意见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D99DB-9A77-473B-8A05-EE87DACA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15100"/>
            <a:ext cx="84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00" b="0">
                <a:solidFill>
                  <a:srgbClr val="000000"/>
                </a:solidFill>
                <a:latin typeface="黑体"/>
                <a:ea typeface="黑体"/>
                <a:cs typeface="黑体"/>
              </a:defRPr>
            </a:pPr>
            <a:r>
              <a:rPr sz="16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28/28</a:t>
            </a:r>
          </a:p>
        </p:txBody>
      </p:sp>
    </p:spTree>
    <p:extLst>
      <p:ext uri="{BB962C8B-B14F-4D97-AF65-F5344CB8AC3E}">
        <p14:creationId xmlns:p14="http://schemas.microsoft.com/office/powerpoint/2010/main" val="6080399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2026-09-24T14:51:37.2420000Z</dcterms:created>
  <dcterms:modified xsi:type="dcterms:W3CDTF">2026-09-24T14:51:37.2420000Z</dcterms:modified>
</coreProperties>
</file>